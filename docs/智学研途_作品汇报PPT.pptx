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3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.jpeg"/><Relationship Id="rId2" Type="http://schemas.openxmlformats.org/officeDocument/2006/relationships/tags" Target="../tags/tag1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1.jpeg"/><Relationship Id="rId2" Type="http://schemas.openxmlformats.org/officeDocument/2006/relationships/tags" Target="../tags/tag26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1.jpeg"/><Relationship Id="rId2" Type="http://schemas.openxmlformats.org/officeDocument/2006/relationships/tags" Target="../tags/tag6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/Users/WPS/Desktop/堆友AI_20241126_72.jpg堆友AI_20241126_72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85000"/>
          </a:blip>
          <a:srcRect t="55" r="4177" b="39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12191365" cy="685800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五边形 320"/>
          <p:cNvSpPr/>
          <p:nvPr userDrawn="1">
            <p:custDataLst>
              <p:tags r:id="rId5"/>
            </p:custDataLst>
          </p:nvPr>
        </p:nvSpPr>
        <p:spPr>
          <a:xfrm flipH="1">
            <a:off x="7483839" y="0"/>
            <a:ext cx="4708161" cy="6858000"/>
          </a:xfrm>
          <a:prstGeom prst="homePlate">
            <a:avLst>
              <a:gd name="adj" fmla="val 5727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816100" cy="2326005"/>
          </a:xfrm>
          <a:custGeom>
            <a:avLst/>
            <a:gdLst>
              <a:gd name="connsiteX0" fmla="*/ 0 w 2599862"/>
              <a:gd name="connsiteY0" fmla="*/ 0 h 3327672"/>
              <a:gd name="connsiteX1" fmla="*/ 2599862 w 2599862"/>
              <a:gd name="connsiteY1" fmla="*/ 0 h 3327672"/>
              <a:gd name="connsiteX2" fmla="*/ 0 w 2599862"/>
              <a:gd name="connsiteY2" fmla="*/ 3327672 h 3327672"/>
              <a:gd name="connsiteX3" fmla="*/ 0 w 2599862"/>
              <a:gd name="connsiteY3" fmla="*/ 0 h 3327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9862" h="3327672">
                <a:moveTo>
                  <a:pt x="0" y="0"/>
                </a:moveTo>
                <a:lnTo>
                  <a:pt x="2599862" y="0"/>
                </a:lnTo>
                <a:lnTo>
                  <a:pt x="0" y="332767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677028" y="2325600"/>
            <a:ext cx="5389200" cy="2124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677028" y="1581260"/>
            <a:ext cx="4993200" cy="6516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677028" y="4921200"/>
            <a:ext cx="3441600" cy="576000"/>
          </a:xfrm>
          <a:prstGeom prst="homePlate">
            <a:avLst/>
          </a:prstGeom>
          <a:gradFill>
            <a:gsLst>
              <a:gs pos="0">
                <a:schemeClr val="accent2"/>
              </a:gs>
              <a:gs pos="66000">
                <a:schemeClr val="accent2">
                  <a:lumMod val="91000"/>
                </a:schemeClr>
              </a:gs>
            </a:gsLst>
            <a:lin ang="7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WPS/Desktop/堆友AI_20241126_72.jpg堆友AI_20241126_72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30000"/>
          </a:blip>
          <a:srcRect t="55" r="4177" b="3939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五边形 320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3223260" cy="6857365"/>
          </a:xfrm>
          <a:prstGeom prst="homePlate">
            <a:avLst>
              <a:gd name="adj" fmla="val 66837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 userDrawn="1">
            <p:custDataLst>
              <p:tags r:id="rId6"/>
            </p:custDataLst>
          </p:nvPr>
        </p:nvSpPr>
        <p:spPr>
          <a:xfrm flipH="1">
            <a:off x="1412240" y="0"/>
            <a:ext cx="2179955" cy="6858000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  <a:gd name="connsiteX0-1" fmla="*/ 1570981 w 4326440"/>
              <a:gd name="connsiteY0-2" fmla="*/ 3331090 h 6857999"/>
              <a:gd name="connsiteX1-3" fmla="*/ 4326440 w 4326440"/>
              <a:gd name="connsiteY1-4" fmla="*/ 6857999 h 6857999"/>
              <a:gd name="connsiteX2-5" fmla="*/ 2754297 w 4326440"/>
              <a:gd name="connsiteY2-6" fmla="*/ 6857999 h 6857999"/>
              <a:gd name="connsiteX3-7" fmla="*/ 1 w 4326440"/>
              <a:gd name="connsiteY3-8" fmla="*/ 3332577 h 6857999"/>
              <a:gd name="connsiteX4-9" fmla="*/ 1858 w 4326440"/>
              <a:gd name="connsiteY4-10" fmla="*/ 3331127 h 6857999"/>
              <a:gd name="connsiteX5-11" fmla="*/ 0 w 4326440"/>
              <a:gd name="connsiteY5-12" fmla="*/ 3329676 h 6857999"/>
              <a:gd name="connsiteX6-13" fmla="*/ 2601428 w 4326440"/>
              <a:gd name="connsiteY6-14" fmla="*/ 0 h 6857999"/>
              <a:gd name="connsiteX7-15" fmla="*/ 4173514 w 4326440"/>
              <a:gd name="connsiteY7-16" fmla="*/ 0 h 6857999"/>
              <a:gd name="connsiteX8-17" fmla="*/ 1662421 w 4326440"/>
              <a:gd name="connsiteY8-18" fmla="*/ 3422530 h 6857999"/>
              <a:gd name="connsiteX0-19" fmla="*/ 1570981 w 4326440"/>
              <a:gd name="connsiteY0-20" fmla="*/ 3331090 h 6857999"/>
              <a:gd name="connsiteX1-21" fmla="*/ 4326440 w 4326440"/>
              <a:gd name="connsiteY1-22" fmla="*/ 6857999 h 6857999"/>
              <a:gd name="connsiteX2-23" fmla="*/ 2754297 w 4326440"/>
              <a:gd name="connsiteY2-24" fmla="*/ 6857999 h 6857999"/>
              <a:gd name="connsiteX3-25" fmla="*/ 1 w 4326440"/>
              <a:gd name="connsiteY3-26" fmla="*/ 3332577 h 6857999"/>
              <a:gd name="connsiteX4-27" fmla="*/ 1858 w 4326440"/>
              <a:gd name="connsiteY4-28" fmla="*/ 3331127 h 6857999"/>
              <a:gd name="connsiteX5-29" fmla="*/ 0 w 4326440"/>
              <a:gd name="connsiteY5-30" fmla="*/ 3329676 h 6857999"/>
              <a:gd name="connsiteX6-31" fmla="*/ 2601428 w 4326440"/>
              <a:gd name="connsiteY6-32" fmla="*/ 0 h 6857999"/>
              <a:gd name="connsiteX7-33" fmla="*/ 4173514 w 4326440"/>
              <a:gd name="connsiteY7-34" fmla="*/ 0 h 6857999"/>
              <a:gd name="connsiteX0-35" fmla="*/ 4326440 w 4326440"/>
              <a:gd name="connsiteY0-36" fmla="*/ 6857999 h 6857999"/>
              <a:gd name="connsiteX1-37" fmla="*/ 2754297 w 4326440"/>
              <a:gd name="connsiteY1-38" fmla="*/ 6857999 h 6857999"/>
              <a:gd name="connsiteX2-39" fmla="*/ 1 w 4326440"/>
              <a:gd name="connsiteY2-40" fmla="*/ 3332577 h 6857999"/>
              <a:gd name="connsiteX3-41" fmla="*/ 1858 w 4326440"/>
              <a:gd name="connsiteY3-42" fmla="*/ 3331127 h 6857999"/>
              <a:gd name="connsiteX4-43" fmla="*/ 0 w 4326440"/>
              <a:gd name="connsiteY4-44" fmla="*/ 3329676 h 6857999"/>
              <a:gd name="connsiteX5-45" fmla="*/ 2601428 w 4326440"/>
              <a:gd name="connsiteY5-46" fmla="*/ 0 h 6857999"/>
              <a:gd name="connsiteX6-47" fmla="*/ 4173514 w 4326440"/>
              <a:gd name="connsiteY6-48" fmla="*/ 0 h 6857999"/>
              <a:gd name="connsiteX0-49" fmla="*/ 2754297 w 4173514"/>
              <a:gd name="connsiteY0-50" fmla="*/ 6857999 h 6857999"/>
              <a:gd name="connsiteX1-51" fmla="*/ 1 w 4173514"/>
              <a:gd name="connsiteY1-52" fmla="*/ 3332577 h 6857999"/>
              <a:gd name="connsiteX2-53" fmla="*/ 1858 w 4173514"/>
              <a:gd name="connsiteY2-54" fmla="*/ 3331127 h 6857999"/>
              <a:gd name="connsiteX3-55" fmla="*/ 0 w 4173514"/>
              <a:gd name="connsiteY3-56" fmla="*/ 3329676 h 6857999"/>
              <a:gd name="connsiteX4-57" fmla="*/ 2601428 w 4173514"/>
              <a:gd name="connsiteY4-58" fmla="*/ 0 h 6857999"/>
              <a:gd name="connsiteX5-59" fmla="*/ 4173514 w 4173514"/>
              <a:gd name="connsiteY5-60" fmla="*/ 0 h 6857999"/>
              <a:gd name="connsiteX0-61" fmla="*/ 2754297 w 2754297"/>
              <a:gd name="connsiteY0-62" fmla="*/ 6857999 h 6857999"/>
              <a:gd name="connsiteX1-63" fmla="*/ 1 w 2754297"/>
              <a:gd name="connsiteY1-64" fmla="*/ 3332577 h 6857999"/>
              <a:gd name="connsiteX2-65" fmla="*/ 1858 w 2754297"/>
              <a:gd name="connsiteY2-66" fmla="*/ 3331127 h 6857999"/>
              <a:gd name="connsiteX3-67" fmla="*/ 0 w 2754297"/>
              <a:gd name="connsiteY3-68" fmla="*/ 3329676 h 6857999"/>
              <a:gd name="connsiteX4-69" fmla="*/ 2601428 w 2754297"/>
              <a:gd name="connsiteY4-70" fmla="*/ 0 h 6857999"/>
              <a:gd name="connsiteX0-71" fmla="*/ 2754296 w 2754296"/>
              <a:gd name="connsiteY0-72" fmla="*/ 6857999 h 6857999"/>
              <a:gd name="connsiteX1-73" fmla="*/ 0 w 2754296"/>
              <a:gd name="connsiteY1-74" fmla="*/ 3332577 h 6857999"/>
              <a:gd name="connsiteX2-75" fmla="*/ 1857 w 2754296"/>
              <a:gd name="connsiteY2-76" fmla="*/ 3331127 h 6857999"/>
              <a:gd name="connsiteX3-77" fmla="*/ 2601427 w 2754296"/>
              <a:gd name="connsiteY3-78" fmla="*/ 0 h 6857999"/>
              <a:gd name="connsiteX0-79" fmla="*/ 2754296 w 2754296"/>
              <a:gd name="connsiteY0-80" fmla="*/ 6857999 h 6857999"/>
              <a:gd name="connsiteX1-81" fmla="*/ 0 w 2754296"/>
              <a:gd name="connsiteY1-82" fmla="*/ 3332577 h 6857999"/>
              <a:gd name="connsiteX2-83" fmla="*/ 2601427 w 2754296"/>
              <a:gd name="connsiteY2-84" fmla="*/ 0 h 6857999"/>
              <a:gd name="connsiteX0-85" fmla="*/ 2649521 w 2649521"/>
              <a:gd name="connsiteY0-86" fmla="*/ 6857999 h 6857999"/>
              <a:gd name="connsiteX1-87" fmla="*/ 0 w 2649521"/>
              <a:gd name="connsiteY1-88" fmla="*/ 3427827 h 6857999"/>
              <a:gd name="connsiteX2-89" fmla="*/ 2496652 w 2649521"/>
              <a:gd name="connsiteY2-90" fmla="*/ 0 h 6857999"/>
              <a:gd name="connsiteX0-91" fmla="*/ 2649521 w 2649521"/>
              <a:gd name="connsiteY0-92" fmla="*/ 6838949 h 6838949"/>
              <a:gd name="connsiteX1-93" fmla="*/ 0 w 2649521"/>
              <a:gd name="connsiteY1-94" fmla="*/ 3408777 h 6838949"/>
              <a:gd name="connsiteX2-95" fmla="*/ 2630002 w 2649521"/>
              <a:gd name="connsiteY2-96" fmla="*/ 0 h 6838949"/>
              <a:gd name="connsiteX0-97" fmla="*/ 2697647 w 2697647"/>
              <a:gd name="connsiteY0-98" fmla="*/ 6848574 h 6848574"/>
              <a:gd name="connsiteX1-99" fmla="*/ 0 w 2697647"/>
              <a:gd name="connsiteY1-100" fmla="*/ 3408777 h 6848574"/>
              <a:gd name="connsiteX2-101" fmla="*/ 2630002 w 2697647"/>
              <a:gd name="connsiteY2-102" fmla="*/ 0 h 6848574"/>
              <a:gd name="connsiteX0-103" fmla="*/ 2707273 w 2707273"/>
              <a:gd name="connsiteY0-104" fmla="*/ 6887075 h 6887075"/>
              <a:gd name="connsiteX1-105" fmla="*/ 0 w 2707273"/>
              <a:gd name="connsiteY1-106" fmla="*/ 3408777 h 6887075"/>
              <a:gd name="connsiteX2-107" fmla="*/ 2630002 w 2707273"/>
              <a:gd name="connsiteY2-108" fmla="*/ 0 h 6887075"/>
              <a:gd name="connsiteX0-109" fmla="*/ 2668772 w 2668772"/>
              <a:gd name="connsiteY0-110" fmla="*/ 6848574 h 6848574"/>
              <a:gd name="connsiteX1-111" fmla="*/ 0 w 2668772"/>
              <a:gd name="connsiteY1-112" fmla="*/ 3408777 h 6848574"/>
              <a:gd name="connsiteX2-113" fmla="*/ 2630002 w 2668772"/>
              <a:gd name="connsiteY2-114" fmla="*/ 0 h 6848574"/>
              <a:gd name="connsiteX0-115" fmla="*/ 2668772 w 2668772"/>
              <a:gd name="connsiteY0-116" fmla="*/ 6877450 h 6877450"/>
              <a:gd name="connsiteX1-117" fmla="*/ 0 w 2668772"/>
              <a:gd name="connsiteY1-118" fmla="*/ 3437653 h 6877450"/>
              <a:gd name="connsiteX2-119" fmla="*/ 2649252 w 2668772"/>
              <a:gd name="connsiteY2-120" fmla="*/ 0 h 6877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668772" h="6877450">
                <a:moveTo>
                  <a:pt x="2668772" y="6877450"/>
                </a:moveTo>
                <a:lnTo>
                  <a:pt x="0" y="3437653"/>
                </a:lnTo>
                <a:lnTo>
                  <a:pt x="2649252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flipH="1">
            <a:off x="1811655" y="0"/>
            <a:ext cx="2179955" cy="6858000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  <a:gd name="connsiteX0-1" fmla="*/ 1570981 w 4326440"/>
              <a:gd name="connsiteY0-2" fmla="*/ 3331090 h 6857999"/>
              <a:gd name="connsiteX1-3" fmla="*/ 4326440 w 4326440"/>
              <a:gd name="connsiteY1-4" fmla="*/ 6857999 h 6857999"/>
              <a:gd name="connsiteX2-5" fmla="*/ 2754297 w 4326440"/>
              <a:gd name="connsiteY2-6" fmla="*/ 6857999 h 6857999"/>
              <a:gd name="connsiteX3-7" fmla="*/ 1 w 4326440"/>
              <a:gd name="connsiteY3-8" fmla="*/ 3332577 h 6857999"/>
              <a:gd name="connsiteX4-9" fmla="*/ 1858 w 4326440"/>
              <a:gd name="connsiteY4-10" fmla="*/ 3331127 h 6857999"/>
              <a:gd name="connsiteX5-11" fmla="*/ 0 w 4326440"/>
              <a:gd name="connsiteY5-12" fmla="*/ 3329676 h 6857999"/>
              <a:gd name="connsiteX6-13" fmla="*/ 2601428 w 4326440"/>
              <a:gd name="connsiteY6-14" fmla="*/ 0 h 6857999"/>
              <a:gd name="connsiteX7-15" fmla="*/ 4173514 w 4326440"/>
              <a:gd name="connsiteY7-16" fmla="*/ 0 h 6857999"/>
              <a:gd name="connsiteX8-17" fmla="*/ 1662421 w 4326440"/>
              <a:gd name="connsiteY8-18" fmla="*/ 3422530 h 6857999"/>
              <a:gd name="connsiteX0-19" fmla="*/ 1570981 w 4326440"/>
              <a:gd name="connsiteY0-20" fmla="*/ 3331090 h 6857999"/>
              <a:gd name="connsiteX1-21" fmla="*/ 4326440 w 4326440"/>
              <a:gd name="connsiteY1-22" fmla="*/ 6857999 h 6857999"/>
              <a:gd name="connsiteX2-23" fmla="*/ 2754297 w 4326440"/>
              <a:gd name="connsiteY2-24" fmla="*/ 6857999 h 6857999"/>
              <a:gd name="connsiteX3-25" fmla="*/ 1 w 4326440"/>
              <a:gd name="connsiteY3-26" fmla="*/ 3332577 h 6857999"/>
              <a:gd name="connsiteX4-27" fmla="*/ 1858 w 4326440"/>
              <a:gd name="connsiteY4-28" fmla="*/ 3331127 h 6857999"/>
              <a:gd name="connsiteX5-29" fmla="*/ 0 w 4326440"/>
              <a:gd name="connsiteY5-30" fmla="*/ 3329676 h 6857999"/>
              <a:gd name="connsiteX6-31" fmla="*/ 2601428 w 4326440"/>
              <a:gd name="connsiteY6-32" fmla="*/ 0 h 6857999"/>
              <a:gd name="connsiteX7-33" fmla="*/ 4173514 w 4326440"/>
              <a:gd name="connsiteY7-34" fmla="*/ 0 h 6857999"/>
              <a:gd name="connsiteX0-35" fmla="*/ 4326440 w 4326440"/>
              <a:gd name="connsiteY0-36" fmla="*/ 6857999 h 6857999"/>
              <a:gd name="connsiteX1-37" fmla="*/ 2754297 w 4326440"/>
              <a:gd name="connsiteY1-38" fmla="*/ 6857999 h 6857999"/>
              <a:gd name="connsiteX2-39" fmla="*/ 1 w 4326440"/>
              <a:gd name="connsiteY2-40" fmla="*/ 3332577 h 6857999"/>
              <a:gd name="connsiteX3-41" fmla="*/ 1858 w 4326440"/>
              <a:gd name="connsiteY3-42" fmla="*/ 3331127 h 6857999"/>
              <a:gd name="connsiteX4-43" fmla="*/ 0 w 4326440"/>
              <a:gd name="connsiteY4-44" fmla="*/ 3329676 h 6857999"/>
              <a:gd name="connsiteX5-45" fmla="*/ 2601428 w 4326440"/>
              <a:gd name="connsiteY5-46" fmla="*/ 0 h 6857999"/>
              <a:gd name="connsiteX6-47" fmla="*/ 4173514 w 4326440"/>
              <a:gd name="connsiteY6-48" fmla="*/ 0 h 6857999"/>
              <a:gd name="connsiteX0-49" fmla="*/ 2754297 w 4173514"/>
              <a:gd name="connsiteY0-50" fmla="*/ 6857999 h 6857999"/>
              <a:gd name="connsiteX1-51" fmla="*/ 1 w 4173514"/>
              <a:gd name="connsiteY1-52" fmla="*/ 3332577 h 6857999"/>
              <a:gd name="connsiteX2-53" fmla="*/ 1858 w 4173514"/>
              <a:gd name="connsiteY2-54" fmla="*/ 3331127 h 6857999"/>
              <a:gd name="connsiteX3-55" fmla="*/ 0 w 4173514"/>
              <a:gd name="connsiteY3-56" fmla="*/ 3329676 h 6857999"/>
              <a:gd name="connsiteX4-57" fmla="*/ 2601428 w 4173514"/>
              <a:gd name="connsiteY4-58" fmla="*/ 0 h 6857999"/>
              <a:gd name="connsiteX5-59" fmla="*/ 4173514 w 4173514"/>
              <a:gd name="connsiteY5-60" fmla="*/ 0 h 6857999"/>
              <a:gd name="connsiteX0-61" fmla="*/ 2754297 w 2754297"/>
              <a:gd name="connsiteY0-62" fmla="*/ 6857999 h 6857999"/>
              <a:gd name="connsiteX1-63" fmla="*/ 1 w 2754297"/>
              <a:gd name="connsiteY1-64" fmla="*/ 3332577 h 6857999"/>
              <a:gd name="connsiteX2-65" fmla="*/ 1858 w 2754297"/>
              <a:gd name="connsiteY2-66" fmla="*/ 3331127 h 6857999"/>
              <a:gd name="connsiteX3-67" fmla="*/ 0 w 2754297"/>
              <a:gd name="connsiteY3-68" fmla="*/ 3329676 h 6857999"/>
              <a:gd name="connsiteX4-69" fmla="*/ 2601428 w 2754297"/>
              <a:gd name="connsiteY4-70" fmla="*/ 0 h 6857999"/>
              <a:gd name="connsiteX0-71" fmla="*/ 2754296 w 2754296"/>
              <a:gd name="connsiteY0-72" fmla="*/ 6857999 h 6857999"/>
              <a:gd name="connsiteX1-73" fmla="*/ 0 w 2754296"/>
              <a:gd name="connsiteY1-74" fmla="*/ 3332577 h 6857999"/>
              <a:gd name="connsiteX2-75" fmla="*/ 1857 w 2754296"/>
              <a:gd name="connsiteY2-76" fmla="*/ 3331127 h 6857999"/>
              <a:gd name="connsiteX3-77" fmla="*/ 2601427 w 2754296"/>
              <a:gd name="connsiteY3-78" fmla="*/ 0 h 6857999"/>
              <a:gd name="connsiteX0-79" fmla="*/ 2754296 w 2754296"/>
              <a:gd name="connsiteY0-80" fmla="*/ 6857999 h 6857999"/>
              <a:gd name="connsiteX1-81" fmla="*/ 0 w 2754296"/>
              <a:gd name="connsiteY1-82" fmla="*/ 3332577 h 6857999"/>
              <a:gd name="connsiteX2-83" fmla="*/ 2601427 w 2754296"/>
              <a:gd name="connsiteY2-84" fmla="*/ 0 h 6857999"/>
              <a:gd name="connsiteX0-85" fmla="*/ 2649521 w 2649521"/>
              <a:gd name="connsiteY0-86" fmla="*/ 6857999 h 6857999"/>
              <a:gd name="connsiteX1-87" fmla="*/ 0 w 2649521"/>
              <a:gd name="connsiteY1-88" fmla="*/ 3427827 h 6857999"/>
              <a:gd name="connsiteX2-89" fmla="*/ 2496652 w 2649521"/>
              <a:gd name="connsiteY2-90" fmla="*/ 0 h 6857999"/>
              <a:gd name="connsiteX0-91" fmla="*/ 2649521 w 2649521"/>
              <a:gd name="connsiteY0-92" fmla="*/ 6838949 h 6838949"/>
              <a:gd name="connsiteX1-93" fmla="*/ 0 w 2649521"/>
              <a:gd name="connsiteY1-94" fmla="*/ 3408777 h 6838949"/>
              <a:gd name="connsiteX2-95" fmla="*/ 2630002 w 2649521"/>
              <a:gd name="connsiteY2-96" fmla="*/ 0 h 6838949"/>
              <a:gd name="connsiteX0-97" fmla="*/ 2697647 w 2697647"/>
              <a:gd name="connsiteY0-98" fmla="*/ 6848574 h 6848574"/>
              <a:gd name="connsiteX1-99" fmla="*/ 0 w 2697647"/>
              <a:gd name="connsiteY1-100" fmla="*/ 3408777 h 6848574"/>
              <a:gd name="connsiteX2-101" fmla="*/ 2630002 w 2697647"/>
              <a:gd name="connsiteY2-102" fmla="*/ 0 h 6848574"/>
              <a:gd name="connsiteX0-103" fmla="*/ 2707273 w 2707273"/>
              <a:gd name="connsiteY0-104" fmla="*/ 6887075 h 6887075"/>
              <a:gd name="connsiteX1-105" fmla="*/ 0 w 2707273"/>
              <a:gd name="connsiteY1-106" fmla="*/ 3408777 h 6887075"/>
              <a:gd name="connsiteX2-107" fmla="*/ 2630002 w 2707273"/>
              <a:gd name="connsiteY2-108" fmla="*/ 0 h 6887075"/>
              <a:gd name="connsiteX0-109" fmla="*/ 2668772 w 2668772"/>
              <a:gd name="connsiteY0-110" fmla="*/ 6848574 h 6848574"/>
              <a:gd name="connsiteX1-111" fmla="*/ 0 w 2668772"/>
              <a:gd name="connsiteY1-112" fmla="*/ 3408777 h 6848574"/>
              <a:gd name="connsiteX2-113" fmla="*/ 2630002 w 2668772"/>
              <a:gd name="connsiteY2-114" fmla="*/ 0 h 6848574"/>
              <a:gd name="connsiteX0-115" fmla="*/ 2668772 w 2668772"/>
              <a:gd name="connsiteY0-116" fmla="*/ 6877450 h 6877450"/>
              <a:gd name="connsiteX1-117" fmla="*/ 0 w 2668772"/>
              <a:gd name="connsiteY1-118" fmla="*/ 3437653 h 6877450"/>
              <a:gd name="connsiteX2-119" fmla="*/ 2649252 w 2668772"/>
              <a:gd name="connsiteY2-120" fmla="*/ 0 h 6877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668772" h="6877450">
                <a:moveTo>
                  <a:pt x="2668772" y="6877450"/>
                </a:moveTo>
                <a:lnTo>
                  <a:pt x="0" y="3437653"/>
                </a:lnTo>
                <a:lnTo>
                  <a:pt x="2649252" y="0"/>
                </a:lnTo>
              </a:path>
            </a:pathLst>
          </a:custGeom>
          <a:noFill/>
          <a:ln>
            <a:gradFill>
              <a:gsLst>
                <a:gs pos="0">
                  <a:schemeClr val="accent2">
                    <a:alpha val="8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8"/>
            </p:custDataLst>
          </p:nvPr>
        </p:nvSpPr>
        <p:spPr>
          <a:xfrm>
            <a:off x="9591503" y="0"/>
            <a:ext cx="2600497" cy="3328485"/>
          </a:xfrm>
          <a:custGeom>
            <a:avLst/>
            <a:gdLst>
              <a:gd name="connsiteX0" fmla="*/ 0 w 2600497"/>
              <a:gd name="connsiteY0" fmla="*/ 0 h 3328485"/>
              <a:gd name="connsiteX1" fmla="*/ 2600497 w 2600497"/>
              <a:gd name="connsiteY1" fmla="*/ 0 h 3328485"/>
              <a:gd name="connsiteX2" fmla="*/ 2600497 w 2600497"/>
              <a:gd name="connsiteY2" fmla="*/ 3328485 h 3328485"/>
              <a:gd name="connsiteX3" fmla="*/ 0 w 2600497"/>
              <a:gd name="connsiteY3" fmla="*/ 0 h 332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497" h="3328485">
                <a:moveTo>
                  <a:pt x="0" y="0"/>
                </a:moveTo>
                <a:lnTo>
                  <a:pt x="2600497" y="0"/>
                </a:lnTo>
                <a:lnTo>
                  <a:pt x="2600497" y="332848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7000">
                <a:schemeClr val="accent1"/>
              </a:gs>
              <a:gs pos="100000">
                <a:schemeClr val="accent2"/>
              </a:gs>
            </a:gsLst>
            <a:lin ang="1956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4726940" y="554990"/>
            <a:ext cx="2275840" cy="1002665"/>
          </a:xfrm>
        </p:spPr>
        <p:txBody>
          <a:bodyPr wrap="square"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/Users/WPS/Desktop/堆友AI_20241126_72.jpg堆友AI_20241126_72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85000"/>
          </a:blip>
          <a:srcRect t="55" r="4177" b="39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396800" y="3186000"/>
            <a:ext cx="4460400" cy="2505600"/>
          </a:xfrm>
        </p:spPr>
        <p:txBody>
          <a:bodyPr wrap="square" anchor="t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8" name="任意多边形: 形状 27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3088793" cy="3814342"/>
          </a:xfrm>
          <a:custGeom>
            <a:avLst/>
            <a:gdLst>
              <a:gd name="connsiteX0" fmla="*/ 0 w 3088793"/>
              <a:gd name="connsiteY0" fmla="*/ 0 h 3814342"/>
              <a:gd name="connsiteX1" fmla="*/ 3088793 w 3088793"/>
              <a:gd name="connsiteY1" fmla="*/ 0 h 3814342"/>
              <a:gd name="connsiteX2" fmla="*/ 0 w 3088793"/>
              <a:gd name="connsiteY2" fmla="*/ 3814342 h 3814342"/>
              <a:gd name="connsiteX3" fmla="*/ 0 w 3088793"/>
              <a:gd name="connsiteY3" fmla="*/ 0 h 381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8793" h="3814342">
                <a:moveTo>
                  <a:pt x="0" y="0"/>
                </a:moveTo>
                <a:lnTo>
                  <a:pt x="3088793" y="0"/>
                </a:lnTo>
                <a:lnTo>
                  <a:pt x="0" y="381434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7"/>
            </p:custDataLst>
          </p:nvPr>
        </p:nvSpPr>
        <p:spPr>
          <a:xfrm>
            <a:off x="6625943" y="0"/>
            <a:ext cx="5566057" cy="6858001"/>
          </a:xfrm>
          <a:custGeom>
            <a:avLst/>
            <a:gdLst>
              <a:gd name="connsiteX0" fmla="*/ 5566056 w 5566057"/>
              <a:gd name="connsiteY0" fmla="*/ 0 h 6858001"/>
              <a:gd name="connsiteX1" fmla="*/ 5566057 w 5566057"/>
              <a:gd name="connsiteY1" fmla="*/ 6858001 h 6858001"/>
              <a:gd name="connsiteX2" fmla="*/ 0 w 5566057"/>
              <a:gd name="connsiteY2" fmla="*/ 6858001 h 6858001"/>
              <a:gd name="connsiteX3" fmla="*/ 5553499 w 5566057"/>
              <a:gd name="connsiteY3" fmla="*/ 1 h 6858001"/>
              <a:gd name="connsiteX4" fmla="*/ 5566056 w 5566057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6057" h="6858001">
                <a:moveTo>
                  <a:pt x="5566056" y="0"/>
                </a:moveTo>
                <a:lnTo>
                  <a:pt x="5566057" y="6858001"/>
                </a:lnTo>
                <a:lnTo>
                  <a:pt x="0" y="6858001"/>
                </a:lnTo>
                <a:lnTo>
                  <a:pt x="5553499" y="1"/>
                </a:lnTo>
                <a:lnTo>
                  <a:pt x="556605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396800" y="1843200"/>
            <a:ext cx="4460400" cy="1332000"/>
          </a:xfrm>
        </p:spPr>
        <p:txBody>
          <a:bodyPr wrap="none" anchor="ctr">
            <a:normAutofit/>
          </a:bodyPr>
          <a:lstStyle>
            <a:lvl1pPr marL="0" indent="0" algn="l">
              <a:buNone/>
              <a:defRPr sz="6000" b="1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90000"/>
                        <a:lumOff val="10000"/>
                      </a:schemeClr>
                    </a:gs>
                  </a:gsLst>
                  <a:lin ang="6600000" scaled="0"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/Users/WPS/Desktop/堆友AI_20241126_72.jpg堆友AI_20241126_72"/>
          <p:cNvPicPr/>
          <p:nvPr userDrawn="1">
            <p:custDataLst>
              <p:tags r:id="rId2"/>
            </p:custDataLst>
          </p:nvPr>
        </p:nvPicPr>
        <p:blipFill>
          <a:blip r:embed="rId3">
            <a:alphaModFix amt="85000"/>
          </a:blip>
          <a:srcRect t="55" r="4177" b="3939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12191365" cy="685800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五边形 320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4707890" cy="6857365"/>
          </a:xfrm>
          <a:prstGeom prst="homePlate">
            <a:avLst>
              <a:gd name="adj" fmla="val 5727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6"/>
            </p:custDataLst>
          </p:nvPr>
        </p:nvSpPr>
        <p:spPr>
          <a:xfrm>
            <a:off x="9816465" y="0"/>
            <a:ext cx="2375535" cy="3041650"/>
          </a:xfrm>
          <a:custGeom>
            <a:avLst/>
            <a:gdLst>
              <a:gd name="connsiteX0" fmla="*/ 0 w 2600497"/>
              <a:gd name="connsiteY0" fmla="*/ 0 h 3328485"/>
              <a:gd name="connsiteX1" fmla="*/ 2600497 w 2600497"/>
              <a:gd name="connsiteY1" fmla="*/ 0 h 3328485"/>
              <a:gd name="connsiteX2" fmla="*/ 2600497 w 2600497"/>
              <a:gd name="connsiteY2" fmla="*/ 3328485 h 3328485"/>
              <a:gd name="connsiteX3" fmla="*/ 0 w 2600497"/>
              <a:gd name="connsiteY3" fmla="*/ 0 h 3328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497" h="3328485">
                <a:moveTo>
                  <a:pt x="0" y="0"/>
                </a:moveTo>
                <a:lnTo>
                  <a:pt x="2600497" y="0"/>
                </a:lnTo>
                <a:lnTo>
                  <a:pt x="2600497" y="332848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7000">
                <a:schemeClr val="accent1"/>
              </a:gs>
              <a:gs pos="100000">
                <a:schemeClr val="accent2"/>
              </a:gs>
            </a:gsLst>
            <a:lin ang="1956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080250" y="2764800"/>
            <a:ext cx="5169600" cy="10368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6170250" y="1476000"/>
            <a:ext cx="5079600" cy="1018800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 flipH="1">
            <a:off x="7808250" y="4921200"/>
            <a:ext cx="3441600" cy="576000"/>
          </a:xfrm>
          <a:prstGeom prst="homePlate">
            <a:avLst/>
          </a:prstGeom>
          <a:gradFill>
            <a:gsLst>
              <a:gs pos="0">
                <a:schemeClr val="accent2"/>
              </a:gs>
              <a:gs pos="66000">
                <a:schemeClr val="accent2"/>
              </a:gs>
            </a:gsLst>
            <a:lin ang="7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3" Type="http://schemas.openxmlformats.org/officeDocument/2006/relationships/theme" Target="../theme/theme2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WPS/Desktop/堆友AI_20241126_72.jpg堆友AI_20241126_72"/>
          <p:cNvPicPr/>
          <p:nvPr userDrawn="1">
            <p:custDataLst>
              <p:tags r:id="rId12"/>
            </p:custDataLst>
          </p:nvPr>
        </p:nvPicPr>
        <p:blipFill>
          <a:blip r:embed="rId13">
            <a:alphaModFix amt="40000"/>
          </a:blip>
          <a:srcRect t="55" r="4177" b="39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chemeClr val="bg2">
              <a:alpha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085802" cy="1340853"/>
          </a:xfrm>
          <a:custGeom>
            <a:avLst/>
            <a:gdLst>
              <a:gd name="connsiteX0" fmla="*/ 1 w 1085802"/>
              <a:gd name="connsiteY0" fmla="*/ 0 h 1340853"/>
              <a:gd name="connsiteX1" fmla="*/ 1085802 w 1085802"/>
              <a:gd name="connsiteY1" fmla="*/ 0 h 1340853"/>
              <a:gd name="connsiteX2" fmla="*/ 0 w 1085802"/>
              <a:gd name="connsiteY2" fmla="*/ 1340853 h 1340853"/>
              <a:gd name="connsiteX3" fmla="*/ 1 w 1085802"/>
              <a:gd name="connsiteY3" fmla="*/ 0 h 13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02" h="1340853">
                <a:moveTo>
                  <a:pt x="1" y="0"/>
                </a:moveTo>
                <a:lnTo>
                  <a:pt x="1085802" y="0"/>
                </a:lnTo>
                <a:lnTo>
                  <a:pt x="0" y="1340853"/>
                </a:lnTo>
                <a:lnTo>
                  <a:pt x="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6"/>
            </p:custDataLst>
          </p:nvPr>
        </p:nvSpPr>
        <p:spPr>
          <a:xfrm>
            <a:off x="10329981" y="4558598"/>
            <a:ext cx="1862019" cy="2299402"/>
          </a:xfrm>
          <a:custGeom>
            <a:avLst/>
            <a:gdLst>
              <a:gd name="connsiteX0" fmla="*/ 1862019 w 1862019"/>
              <a:gd name="connsiteY0" fmla="*/ 0 h 2299402"/>
              <a:gd name="connsiteX1" fmla="*/ 1862018 w 1862019"/>
              <a:gd name="connsiteY1" fmla="*/ 2299402 h 2299402"/>
              <a:gd name="connsiteX2" fmla="*/ 0 w 1862019"/>
              <a:gd name="connsiteY2" fmla="*/ 2299402 h 2299402"/>
              <a:gd name="connsiteX3" fmla="*/ 1862019 w 1862019"/>
              <a:gd name="connsiteY3" fmla="*/ 0 h 229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019" h="2299402">
                <a:moveTo>
                  <a:pt x="1862019" y="0"/>
                </a:moveTo>
                <a:lnTo>
                  <a:pt x="1862018" y="2299402"/>
                </a:lnTo>
                <a:lnTo>
                  <a:pt x="0" y="2299402"/>
                </a:lnTo>
                <a:lnTo>
                  <a:pt x="186201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91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image" Target="../media/image2.png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1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image" Target="../media/image2.png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1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9" Type="http://schemas.openxmlformats.org/officeDocument/2006/relationships/notesSlide" Target="../notesSlides/notesSlide5.xml"/><Relationship Id="rId28" Type="http://schemas.openxmlformats.org/officeDocument/2006/relationships/slideLayout" Target="../slideLayouts/slideLayout8.xml"/><Relationship Id="rId27" Type="http://schemas.openxmlformats.org/officeDocument/2006/relationships/tags" Target="../tags/tag182.xml"/><Relationship Id="rId26" Type="http://schemas.openxmlformats.org/officeDocument/2006/relationships/tags" Target="../tags/tag181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tags" Target="../tags/tag15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image" Target="../media/image3.png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200.xml"/><Relationship Id="rId2" Type="http://schemas.openxmlformats.org/officeDocument/2006/relationships/tags" Target="../tags/tag184.xml"/><Relationship Id="rId19" Type="http://schemas.openxmlformats.org/officeDocument/2006/relationships/tags" Target="../tags/tag199.xml"/><Relationship Id="rId18" Type="http://schemas.openxmlformats.org/officeDocument/2006/relationships/tags" Target="../tags/tag198.xml"/><Relationship Id="rId17" Type="http://schemas.openxmlformats.org/officeDocument/2006/relationships/tags" Target="../tags/tag197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image" Target="../media/image4.png"/><Relationship Id="rId10" Type="http://schemas.openxmlformats.org/officeDocument/2006/relationships/tags" Target="../tags/tag191.xml"/><Relationship Id="rId1" Type="http://schemas.openxmlformats.org/officeDocument/2006/relationships/tags" Target="../tags/tag1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image" Target="../media/image3.png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3" Type="http://schemas.openxmlformats.org/officeDocument/2006/relationships/notesSlide" Target="../notesSlides/notesSlide7.xml"/><Relationship Id="rId32" Type="http://schemas.openxmlformats.org/officeDocument/2006/relationships/slideLayout" Target="../slideLayouts/slideLayout8.xml"/><Relationship Id="rId31" Type="http://schemas.openxmlformats.org/officeDocument/2006/relationships/tags" Target="../tags/tag230.xml"/><Relationship Id="rId30" Type="http://schemas.openxmlformats.org/officeDocument/2006/relationships/tags" Target="../tags/tag229.xml"/><Relationship Id="rId3" Type="http://schemas.openxmlformats.org/officeDocument/2006/relationships/tags" Target="../tags/tag203.xml"/><Relationship Id="rId29" Type="http://schemas.openxmlformats.org/officeDocument/2006/relationships/tags" Target="../tags/tag228.xml"/><Relationship Id="rId28" Type="http://schemas.openxmlformats.org/officeDocument/2006/relationships/tags" Target="../tags/tag227.xml"/><Relationship Id="rId27" Type="http://schemas.openxmlformats.org/officeDocument/2006/relationships/tags" Target="../tags/tag226.xml"/><Relationship Id="rId26" Type="http://schemas.openxmlformats.org/officeDocument/2006/relationships/tags" Target="../tags/tag225.xml"/><Relationship Id="rId25" Type="http://schemas.openxmlformats.org/officeDocument/2006/relationships/tags" Target="../tags/tag224.xml"/><Relationship Id="rId24" Type="http://schemas.openxmlformats.org/officeDocument/2006/relationships/tags" Target="../tags/tag223.xml"/><Relationship Id="rId23" Type="http://schemas.openxmlformats.org/officeDocument/2006/relationships/tags" Target="../tags/tag222.xml"/><Relationship Id="rId22" Type="http://schemas.openxmlformats.org/officeDocument/2006/relationships/tags" Target="../tags/tag221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tags" Target="../tags/tag202.xml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tags" Target="../tags/tag20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image" Target="../media/image5.png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image" Target="../media/image6.png"/><Relationship Id="rId10" Type="http://schemas.openxmlformats.org/officeDocument/2006/relationships/tags" Target="../tags/tag239.xml"/><Relationship Id="rId1" Type="http://schemas.openxmlformats.org/officeDocument/2006/relationships/tags" Target="../tags/tag2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image" Target="../media/image7.png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8.xml"/><Relationship Id="rId22" Type="http://schemas.openxmlformats.org/officeDocument/2006/relationships/tags" Target="../tags/tag265.xml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tags" Target="../tags/tag247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image" Target="../media/image8.png"/><Relationship Id="rId1" Type="http://schemas.openxmlformats.org/officeDocument/2006/relationships/tags" Target="../tags/tag24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image" Target="../media/image9.png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image" Target="../media/image10.png"/><Relationship Id="rId1" Type="http://schemas.openxmlformats.org/officeDocument/2006/relationships/tags" Target="../tags/tag26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image" Target="../media/image11.png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4" Type="http://schemas.openxmlformats.org/officeDocument/2006/relationships/notesSlide" Target="../notesSlides/notesSlide11.xml"/><Relationship Id="rId23" Type="http://schemas.openxmlformats.org/officeDocument/2006/relationships/slideLayout" Target="../slideLayouts/slideLayout8.xml"/><Relationship Id="rId22" Type="http://schemas.openxmlformats.org/officeDocument/2006/relationships/tags" Target="../tags/tag299.xml"/><Relationship Id="rId21" Type="http://schemas.openxmlformats.org/officeDocument/2006/relationships/tags" Target="../tags/tag298.xml"/><Relationship Id="rId20" Type="http://schemas.openxmlformats.org/officeDocument/2006/relationships/tags" Target="../tags/tag297.xml"/><Relationship Id="rId2" Type="http://schemas.openxmlformats.org/officeDocument/2006/relationships/tags" Target="../tags/tag280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tags" Target="../tags/tag306.xml"/><Relationship Id="rId7" Type="http://schemas.openxmlformats.org/officeDocument/2006/relationships/tags" Target="../tags/tag305.xml"/><Relationship Id="rId6" Type="http://schemas.openxmlformats.org/officeDocument/2006/relationships/image" Target="../media/image12.png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319.xml"/><Relationship Id="rId20" Type="http://schemas.openxmlformats.org/officeDocument/2006/relationships/tags" Target="../tags/tag318.xml"/><Relationship Id="rId2" Type="http://schemas.openxmlformats.org/officeDocument/2006/relationships/tags" Target="../tags/tag301.xml"/><Relationship Id="rId19" Type="http://schemas.openxmlformats.org/officeDocument/2006/relationships/tags" Target="../tags/tag317.xml"/><Relationship Id="rId18" Type="http://schemas.openxmlformats.org/officeDocument/2006/relationships/tags" Target="../tags/tag316.xml"/><Relationship Id="rId17" Type="http://schemas.openxmlformats.org/officeDocument/2006/relationships/tags" Target="../tags/tag315.xml"/><Relationship Id="rId16" Type="http://schemas.openxmlformats.org/officeDocument/2006/relationships/tags" Target="../tags/tag314.xml"/><Relationship Id="rId15" Type="http://schemas.openxmlformats.org/officeDocument/2006/relationships/tags" Target="../tags/tag313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tags" Target="../tags/tag30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image" Target="../media/image13.png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6" Type="http://schemas.openxmlformats.org/officeDocument/2006/relationships/notesSlide" Target="../notesSlides/notesSlide13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342.xml"/><Relationship Id="rId23" Type="http://schemas.openxmlformats.org/officeDocument/2006/relationships/tags" Target="../tags/tag341.xml"/><Relationship Id="rId22" Type="http://schemas.openxmlformats.org/officeDocument/2006/relationships/tags" Target="../tags/tag340.xml"/><Relationship Id="rId21" Type="http://schemas.openxmlformats.org/officeDocument/2006/relationships/tags" Target="../tags/tag339.xml"/><Relationship Id="rId20" Type="http://schemas.openxmlformats.org/officeDocument/2006/relationships/tags" Target="../tags/tag338.xml"/><Relationship Id="rId2" Type="http://schemas.openxmlformats.org/officeDocument/2006/relationships/tags" Target="../tags/tag321.xml"/><Relationship Id="rId19" Type="http://schemas.openxmlformats.org/officeDocument/2006/relationships/tags" Target="../tags/tag337.xml"/><Relationship Id="rId18" Type="http://schemas.openxmlformats.org/officeDocument/2006/relationships/tags" Target="../tags/tag336.xml"/><Relationship Id="rId17" Type="http://schemas.openxmlformats.org/officeDocument/2006/relationships/tags" Target="../tags/tag335.xml"/><Relationship Id="rId16" Type="http://schemas.openxmlformats.org/officeDocument/2006/relationships/tags" Target="../tags/tag334.xml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2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image" Target="../media/image14.png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6" Type="http://schemas.openxmlformats.org/officeDocument/2006/relationships/notesSlide" Target="../notesSlides/notesSlide14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365.xml"/><Relationship Id="rId23" Type="http://schemas.openxmlformats.org/officeDocument/2006/relationships/tags" Target="../tags/tag364.xml"/><Relationship Id="rId22" Type="http://schemas.openxmlformats.org/officeDocument/2006/relationships/tags" Target="../tags/tag363.xml"/><Relationship Id="rId21" Type="http://schemas.openxmlformats.org/officeDocument/2006/relationships/tags" Target="../tags/tag362.xml"/><Relationship Id="rId20" Type="http://schemas.openxmlformats.org/officeDocument/2006/relationships/tags" Target="../tags/tag361.xml"/><Relationship Id="rId2" Type="http://schemas.openxmlformats.org/officeDocument/2006/relationships/tags" Target="../tags/tag344.xml"/><Relationship Id="rId19" Type="http://schemas.openxmlformats.org/officeDocument/2006/relationships/tags" Target="../tags/tag360.xml"/><Relationship Id="rId18" Type="http://schemas.openxmlformats.org/officeDocument/2006/relationships/tags" Target="../tags/tag359.xml"/><Relationship Id="rId17" Type="http://schemas.openxmlformats.org/officeDocument/2006/relationships/tags" Target="../tags/tag358.xml"/><Relationship Id="rId16" Type="http://schemas.openxmlformats.org/officeDocument/2006/relationships/tags" Target="../tags/tag357.xml"/><Relationship Id="rId15" Type="http://schemas.openxmlformats.org/officeDocument/2006/relationships/tags" Target="../tags/tag356.xml"/><Relationship Id="rId14" Type="http://schemas.openxmlformats.org/officeDocument/2006/relationships/tags" Target="../tags/tag355.xml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tags" Target="../tags/tag352.xml"/><Relationship Id="rId10" Type="http://schemas.openxmlformats.org/officeDocument/2006/relationships/tags" Target="../tags/tag351.xml"/><Relationship Id="rId1" Type="http://schemas.openxmlformats.org/officeDocument/2006/relationships/tags" Target="../tags/tag34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73.xml"/><Relationship Id="rId8" Type="http://schemas.openxmlformats.org/officeDocument/2006/relationships/tags" Target="../tags/tag372.xml"/><Relationship Id="rId7" Type="http://schemas.openxmlformats.org/officeDocument/2006/relationships/tags" Target="../tags/tag371.xml"/><Relationship Id="rId6" Type="http://schemas.openxmlformats.org/officeDocument/2006/relationships/image" Target="../media/image15.png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378.xml"/><Relationship Id="rId14" Type="http://schemas.openxmlformats.org/officeDocument/2006/relationships/tags" Target="../tags/tag377.xml"/><Relationship Id="rId13" Type="http://schemas.openxmlformats.org/officeDocument/2006/relationships/tags" Target="../tags/tag376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image" Target="../media/image16.png"/><Relationship Id="rId1" Type="http://schemas.openxmlformats.org/officeDocument/2006/relationships/tags" Target="../tags/tag36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image" Target="../media/image17.png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8" Type="http://schemas.openxmlformats.org/officeDocument/2006/relationships/notesSlide" Target="../notesSlides/notesSlide16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392.xml"/><Relationship Id="rId15" Type="http://schemas.openxmlformats.org/officeDocument/2006/relationships/tags" Target="../tags/tag391.xml"/><Relationship Id="rId14" Type="http://schemas.openxmlformats.org/officeDocument/2006/relationships/tags" Target="../tags/tag390.xml"/><Relationship Id="rId13" Type="http://schemas.openxmlformats.org/officeDocument/2006/relationships/tags" Target="../tags/tag389.xml"/><Relationship Id="rId12" Type="http://schemas.openxmlformats.org/officeDocument/2006/relationships/tags" Target="../tags/tag388.xml"/><Relationship Id="rId11" Type="http://schemas.openxmlformats.org/officeDocument/2006/relationships/tags" Target="../tags/tag387.xml"/><Relationship Id="rId10" Type="http://schemas.openxmlformats.org/officeDocument/2006/relationships/image" Target="../media/image18.png"/><Relationship Id="rId1" Type="http://schemas.openxmlformats.org/officeDocument/2006/relationships/tags" Target="../tags/tag37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4" Type="http://schemas.openxmlformats.org/officeDocument/2006/relationships/notesSlide" Target="../notesSlides/notesSlide17.xml"/><Relationship Id="rId33" Type="http://schemas.openxmlformats.org/officeDocument/2006/relationships/slideLayout" Target="../slideLayouts/slideLayout8.xml"/><Relationship Id="rId32" Type="http://schemas.openxmlformats.org/officeDocument/2006/relationships/tags" Target="../tags/tag424.xml"/><Relationship Id="rId31" Type="http://schemas.openxmlformats.org/officeDocument/2006/relationships/tags" Target="../tags/tag423.xml"/><Relationship Id="rId30" Type="http://schemas.openxmlformats.org/officeDocument/2006/relationships/tags" Target="../tags/tag422.xml"/><Relationship Id="rId3" Type="http://schemas.openxmlformats.org/officeDocument/2006/relationships/tags" Target="../tags/tag395.xml"/><Relationship Id="rId29" Type="http://schemas.openxmlformats.org/officeDocument/2006/relationships/tags" Target="../tags/tag421.xml"/><Relationship Id="rId28" Type="http://schemas.openxmlformats.org/officeDocument/2006/relationships/tags" Target="../tags/tag420.xml"/><Relationship Id="rId27" Type="http://schemas.openxmlformats.org/officeDocument/2006/relationships/tags" Target="../tags/tag419.xml"/><Relationship Id="rId26" Type="http://schemas.openxmlformats.org/officeDocument/2006/relationships/tags" Target="../tags/tag418.xml"/><Relationship Id="rId25" Type="http://schemas.openxmlformats.org/officeDocument/2006/relationships/tags" Target="../tags/tag417.xml"/><Relationship Id="rId24" Type="http://schemas.openxmlformats.org/officeDocument/2006/relationships/tags" Target="../tags/tag416.xml"/><Relationship Id="rId23" Type="http://schemas.openxmlformats.org/officeDocument/2006/relationships/tags" Target="../tags/tag415.xml"/><Relationship Id="rId22" Type="http://schemas.openxmlformats.org/officeDocument/2006/relationships/tags" Target="../tags/tag414.xml"/><Relationship Id="rId21" Type="http://schemas.openxmlformats.org/officeDocument/2006/relationships/tags" Target="../tags/tag413.xml"/><Relationship Id="rId20" Type="http://schemas.openxmlformats.org/officeDocument/2006/relationships/tags" Target="../tags/tag412.xml"/><Relationship Id="rId2" Type="http://schemas.openxmlformats.org/officeDocument/2006/relationships/tags" Target="../tags/tag394.xml"/><Relationship Id="rId19" Type="http://schemas.openxmlformats.org/officeDocument/2006/relationships/tags" Target="../tags/tag411.xml"/><Relationship Id="rId18" Type="http://schemas.openxmlformats.org/officeDocument/2006/relationships/tags" Target="../tags/tag410.xml"/><Relationship Id="rId17" Type="http://schemas.openxmlformats.org/officeDocument/2006/relationships/tags" Target="../tags/tag409.xml"/><Relationship Id="rId16" Type="http://schemas.openxmlformats.org/officeDocument/2006/relationships/tags" Target="../tags/tag408.xml"/><Relationship Id="rId15" Type="http://schemas.openxmlformats.org/officeDocument/2006/relationships/tags" Target="../tags/tag407.xml"/><Relationship Id="rId14" Type="http://schemas.openxmlformats.org/officeDocument/2006/relationships/tags" Target="../tags/tag406.xml"/><Relationship Id="rId13" Type="http://schemas.openxmlformats.org/officeDocument/2006/relationships/tags" Target="../tags/tag405.xml"/><Relationship Id="rId12" Type="http://schemas.openxmlformats.org/officeDocument/2006/relationships/tags" Target="../tags/tag404.xml"/><Relationship Id="rId11" Type="http://schemas.openxmlformats.org/officeDocument/2006/relationships/tags" Target="../tags/tag403.xml"/><Relationship Id="rId10" Type="http://schemas.openxmlformats.org/officeDocument/2006/relationships/tags" Target="../tags/tag402.xml"/><Relationship Id="rId1" Type="http://schemas.openxmlformats.org/officeDocument/2006/relationships/tags" Target="../tags/tag3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437.xml"/><Relationship Id="rId12" Type="http://schemas.openxmlformats.org/officeDocument/2006/relationships/tags" Target="../tags/tag436.xml"/><Relationship Id="rId11" Type="http://schemas.openxmlformats.org/officeDocument/2006/relationships/tags" Target="../tags/tag435.xml"/><Relationship Id="rId10" Type="http://schemas.openxmlformats.org/officeDocument/2006/relationships/tags" Target="../tags/tag434.xml"/><Relationship Id="rId1" Type="http://schemas.openxmlformats.org/officeDocument/2006/relationships/tags" Target="../tags/tag4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31520" y="777240"/>
            <a:ext cx="2743200" cy="311150"/>
          </a:xfrm>
          <a:prstGeom prst="roundRect">
            <a:avLst>
              <a:gd name="adj" fmla="val 41176"/>
            </a:avLst>
          </a:prstGeom>
          <a:solidFill>
            <a:schemeClr val="accent3"/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24255" y="803910"/>
            <a:ext cx="2327910" cy="311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cs typeface="微软雅黑" panose="020B0503020204020204" pitchFamily="34" charset="-120"/>
              </a:rPr>
              <a:t>智慧教育与科普创作</a:t>
            </a:r>
            <a:endParaRPr lang="en-US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31520" y="1609852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chemeClr val="tx1"/>
                </a:solidFill>
                <a:cs typeface="微软雅黑" panose="020B0503020204020204" pitchFamily="34" charset="-120"/>
              </a:rPr>
              <a:t>智学研途</a:t>
            </a:r>
            <a:endParaRPr lang="en-US" sz="4200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49808" y="235000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/>
                </a:solidFill>
                <a:cs typeface="汉仪铸字美心体简" panose="00020600040101010101" charset="-122"/>
              </a:rPr>
              <a:t>AI 个性化学习平台</a:t>
            </a:r>
            <a:endParaRPr lang="en-US" sz="2700" b="1" dirty="0">
              <a:solidFill>
                <a:schemeClr val="accent1"/>
              </a:solidFill>
              <a:cs typeface="汉仪铸字美心体简" panose="00020600040101010101" charset="-122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68096" y="3090672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cs typeface="微软雅黑" panose="020B0503020204020204" pitchFamily="34" charset="-120"/>
              </a:rPr>
              <a:t>让资料可追溯，让错题能迁移，让学习计划更适合每一位学生。</a:t>
            </a:r>
            <a:endParaRPr lang="en-US" sz="1600" dirty="0">
              <a:solidFill>
                <a:schemeClr val="accent1"/>
              </a:solidFill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768096" y="4087368"/>
            <a:ext cx="1298448" cy="384048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41248" y="4114800"/>
            <a:ext cx="115214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cs typeface="微软雅黑" panose="020B0503020204020204" pitchFamily="34" charset="-120"/>
              </a:rPr>
              <a:t>资料问答</a:t>
            </a:r>
            <a:endParaRPr lang="en-US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2221992" y="4087368"/>
            <a:ext cx="1664208" cy="384048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2295144" y="411480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cs typeface="微软雅黑" panose="020B0503020204020204" pitchFamily="34" charset="-120"/>
              </a:rPr>
              <a:t>错题举一反三</a:t>
            </a:r>
            <a:endParaRPr lang="en-US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041648" y="4087368"/>
            <a:ext cx="1188720" cy="384048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114800" y="4114800"/>
            <a:ext cx="10424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cs typeface="微软雅黑" panose="020B0503020204020204" pitchFamily="34" charset="-120"/>
              </a:rPr>
              <a:t>知识图谱</a:t>
            </a:r>
            <a:endParaRPr lang="en-US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5376672" y="4087368"/>
            <a:ext cx="1417320" cy="384048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5449824" y="4114800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cs typeface="微软雅黑" panose="020B0503020204020204" pitchFamily="34" charset="-120"/>
              </a:rPr>
              <a:t>画像与计划</a:t>
            </a:r>
            <a:endParaRPr lang="en-US" b="1" dirty="0">
              <a:solidFill>
                <a:schemeClr val="tx1"/>
              </a:solidFill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768096" y="6172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  <a:cs typeface="汉仪铸字美心体简" panose="00020600040101010101" charset="-122"/>
              </a:rPr>
              <a:t>作品汇报 · 2026</a:t>
            </a:r>
            <a:endParaRPr lang="en-US" sz="1000" dirty="0">
              <a:solidFill>
                <a:schemeClr val="accent1"/>
              </a:solidFill>
              <a:cs typeface="汉仪铸字美心体简" panose="00020600040101010101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产品全景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4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17320"/>
            <a:ext cx="67208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Image 0" descr="D:\数字媒体竞赛\docs\ppt-assets\manual\image2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5564" y="1492983"/>
            <a:ext cx="6533297" cy="3776472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358384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学习总览与功能入口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726680" y="157276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面向学生的学习工作台</a:t>
            </a:r>
            <a:endParaRPr lang="en-US" sz="19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26680" y="22037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7726680" y="227685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0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8293608" y="2176272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学习内容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8293608" y="2532888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课程、知识点与学习资料集中管理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726680" y="3154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7726680" y="322783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8293608" y="312724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学习过程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8293608" y="3483864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问答、练习、错题与学习计划联动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26680" y="410565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7726680" y="417880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8293608" y="407822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学习反馈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17"/>
            </p:custDataLst>
          </p:nvPr>
        </p:nvSpPr>
        <p:spPr>
          <a:xfrm>
            <a:off x="8293608" y="4434840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通过学习数据发现薄弱点并持续调整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7726680" y="5120640"/>
            <a:ext cx="3703320" cy="502920"/>
          </a:xfrm>
          <a:prstGeom prst="roundRect">
            <a:avLst>
              <a:gd name="adj" fmla="val 25455"/>
            </a:avLst>
          </a:prstGeom>
          <a:solidFill>
            <a:schemeClr val="accent4"/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7891272" y="52395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从“查到答案”延伸到“持续进步”</a:t>
            </a:r>
            <a:endParaRPr lang="en-US" sz="1600" b="1" dirty="0">
              <a:solidFill>
                <a:schemeClr val="accent4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一个平台，覆盖学习的关键环节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产品全景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17320"/>
            <a:ext cx="672084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Image 0" descr="D:\数字媒体竞赛\docs\ppt-assets\manual\image2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5564" y="1492983"/>
            <a:ext cx="6533297" cy="3776472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358384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学习总览与功能入口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726680" y="157276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面向学生的学习工作台</a:t>
            </a:r>
            <a:endParaRPr lang="en-US" sz="19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26680" y="22037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7726680" y="227685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0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8293608" y="2176272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学习内容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8293608" y="2532888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课程、知识点与学习资料集中管理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726680" y="3154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7726680" y="322783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8293608" y="312724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学习过程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8293608" y="3483864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问答、练习、错题与学习计划联动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26680" y="410565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7726680" y="417880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8293608" y="407822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学习反馈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17"/>
            </p:custDataLst>
          </p:nvPr>
        </p:nvSpPr>
        <p:spPr>
          <a:xfrm>
            <a:off x="8293608" y="4434840"/>
            <a:ext cx="31272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通过学习数据发现薄弱点并持续调整</a:t>
            </a:r>
            <a:endParaRPr lang="en-US" sz="10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7726680" y="5120640"/>
            <a:ext cx="3703320" cy="502920"/>
          </a:xfrm>
          <a:prstGeom prst="roundRect">
            <a:avLst>
              <a:gd name="adj" fmla="val 25455"/>
            </a:avLst>
          </a:prstGeom>
          <a:solidFill>
            <a:schemeClr val="accent4"/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7891272" y="52395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从“查到答案”延伸到“持续进步”</a:t>
            </a:r>
            <a:endParaRPr lang="en-US" sz="1600" b="1" dirty="0">
              <a:solidFill>
                <a:schemeClr val="accent4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一个平台，覆盖学习的关键环节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需求与目标</a:t>
            </a:r>
            <a:endParaRPr lang="en-US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463040"/>
            <a:ext cx="5193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41248" y="169164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344168" y="162763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资料分散</a:t>
            </a:r>
            <a:endParaRPr lang="en-US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344168" y="19933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知识点藏在多份课程文件中，查找耗时。</a:t>
            </a:r>
            <a:endParaRPr lang="en-US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193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9164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903720" y="162763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答案难核对</a:t>
            </a:r>
            <a:endParaRPr lang="en-US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6903720" y="19933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学生需要知道回答依据来自哪里。</a:t>
            </a:r>
            <a:endParaRPr lang="en-US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2880360"/>
            <a:ext cx="5193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10896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1344168" y="304495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错题难复用</a:t>
            </a:r>
            <a:endParaRPr lang="en-US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1344168" y="34107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只看正确答案，不足以检验是否掌握。</a:t>
            </a:r>
            <a:endParaRPr lang="en-US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1937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1089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0"/>
            </p:custDataLst>
          </p:nvPr>
        </p:nvSpPr>
        <p:spPr>
          <a:xfrm>
            <a:off x="6903720" y="304495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计划不适配</a:t>
            </a:r>
            <a:endParaRPr lang="en-US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1"/>
            </p:custDataLst>
          </p:nvPr>
        </p:nvSpPr>
        <p:spPr>
          <a:xfrm>
            <a:off x="6903720" y="34107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不同进度和薄弱点需要不同学习安排。</a:t>
            </a:r>
            <a:endParaRPr lang="en-US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>
            <p:custDataLst>
              <p:tags r:id="rId12"/>
            </p:custDataLst>
          </p:nvPr>
        </p:nvSpPr>
        <p:spPr>
          <a:xfrm>
            <a:off x="731520" y="4617720"/>
            <a:ext cx="10424160" cy="68199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6">
                <a:alpha val="0"/>
              </a:schemeClr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3"/>
            </p:custDataLst>
          </p:nvPr>
        </p:nvSpPr>
        <p:spPr>
          <a:xfrm>
            <a:off x="960120" y="4800600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平台回应</a:t>
            </a:r>
            <a:endParaRPr lang="en-US" b="1" dirty="0">
              <a:solidFill>
                <a:schemeClr val="accent6">
                  <a:lumMod val="5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4"/>
            </p:custDataLst>
          </p:nvPr>
        </p:nvSpPr>
        <p:spPr>
          <a:xfrm>
            <a:off x="2194560" y="4764024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5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围绕学生的资料、问题、练习与学情，提供可持续使用的学习支持。</a:t>
            </a:r>
            <a:endParaRPr lang="en-US" b="1" dirty="0">
              <a:solidFill>
                <a:schemeClr val="accent6">
                  <a:lumMod val="5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94360" y="54161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从真实学习难点出发设计功能</a:t>
            </a:r>
            <a:endParaRPr lang="zh-CN" altLang="en-US" sz="3600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产品流程</a:t>
            </a:r>
            <a:endParaRPr lang="en-US" sz="16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04</a:t>
            </a:r>
            <a:endParaRPr lang="en-US" sz="9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800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78992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</a:t>
            </a:r>
            <a:endParaRPr lang="en-US" sz="10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731520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资料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621792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上传课程材料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01952" y="2761488"/>
            <a:ext cx="603504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578608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017520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2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2670048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提问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2560320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RAG / 大模型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40480" y="2761488"/>
            <a:ext cx="603504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517136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0"/>
            </p:custDataLst>
          </p:nvPr>
        </p:nvSpPr>
        <p:spPr>
          <a:xfrm>
            <a:off x="4956048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3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1"/>
            </p:custDataLst>
          </p:nvPr>
        </p:nvSpPr>
        <p:spPr>
          <a:xfrm>
            <a:off x="4608576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练习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2"/>
            </p:custDataLst>
          </p:nvPr>
        </p:nvSpPr>
        <p:spPr>
          <a:xfrm>
            <a:off x="4498848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课程题目检测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79008" y="2761488"/>
            <a:ext cx="603504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455664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4576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13"/>
            </p:custDataLst>
          </p:nvPr>
        </p:nvSpPr>
        <p:spPr>
          <a:xfrm>
            <a:off x="6894576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4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>
            <p:custDataLst>
              <p:tags r:id="rId14"/>
            </p:custDataLst>
          </p:nvPr>
        </p:nvSpPr>
        <p:spPr>
          <a:xfrm>
            <a:off x="6547104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>
            <p:custDataLst>
              <p:tags r:id="rId15"/>
            </p:custDataLst>
          </p:nvPr>
        </p:nvSpPr>
        <p:spPr>
          <a:xfrm>
            <a:off x="6437376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定位薄弱知识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717536" y="2761488"/>
            <a:ext cx="603504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394192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3104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8833104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5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>
            <p:custDataLst>
              <p:tags r:id="rId17"/>
            </p:custDataLst>
          </p:nvPr>
        </p:nvSpPr>
        <p:spPr>
          <a:xfrm>
            <a:off x="8485632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计划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>
            <p:custDataLst>
              <p:tags r:id="rId18"/>
            </p:custDataLst>
          </p:nvPr>
        </p:nvSpPr>
        <p:spPr>
          <a:xfrm>
            <a:off x="8375904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生成学习安排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656064" y="2761488"/>
            <a:ext cx="603504" cy="91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0332720" y="2148840"/>
            <a:ext cx="123444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71632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9" name="Text 37"/>
          <p:cNvSpPr/>
          <p:nvPr>
            <p:custDataLst>
              <p:tags r:id="rId19"/>
            </p:custDataLst>
          </p:nvPr>
        </p:nvSpPr>
        <p:spPr>
          <a:xfrm>
            <a:off x="10771632" y="24231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6</a:t>
            </a:r>
            <a:endParaRPr lang="en-US" sz="10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0" name="Text 38"/>
          <p:cNvSpPr/>
          <p:nvPr>
            <p:custDataLst>
              <p:tags r:id="rId20"/>
            </p:custDataLst>
          </p:nvPr>
        </p:nvSpPr>
        <p:spPr>
          <a:xfrm>
            <a:off x="10424160" y="2788920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反馈</a:t>
            </a:r>
            <a:endParaRPr lang="en-US" sz="14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1" name="Text 39"/>
          <p:cNvSpPr/>
          <p:nvPr>
            <p:custDataLst>
              <p:tags r:id="rId21"/>
            </p:custDataLst>
          </p:nvPr>
        </p:nvSpPr>
        <p:spPr>
          <a:xfrm>
            <a:off x="10314432" y="3127248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画像持续更新</a:t>
            </a:r>
            <a:endParaRPr lang="en-US" sz="900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2" name="Shape 40"/>
          <p:cNvSpPr/>
          <p:nvPr>
            <p:custDataLst>
              <p:tags r:id="rId22"/>
            </p:custDataLst>
          </p:nvPr>
        </p:nvSpPr>
        <p:spPr>
          <a:xfrm>
            <a:off x="960120" y="4343400"/>
            <a:ext cx="1024128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3" name="Text 41"/>
          <p:cNvSpPr/>
          <p:nvPr>
            <p:custDataLst>
              <p:tags r:id="rId23"/>
            </p:custDataLst>
          </p:nvPr>
        </p:nvSpPr>
        <p:spPr>
          <a:xfrm>
            <a:off x="1234440" y="4553712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关键：错题和学习记录进入画像，影响后续复习顺序与学习计划。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4" name="Shape 42"/>
          <p:cNvSpPr/>
          <p:nvPr>
            <p:custDataLst>
              <p:tags r:id="rId24"/>
            </p:custDataLst>
          </p:nvPr>
        </p:nvSpPr>
        <p:spPr>
          <a:xfrm>
            <a:off x="960120" y="5532120"/>
            <a:ext cx="10241280" cy="512064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45" name="Text 43"/>
          <p:cNvSpPr/>
          <p:nvPr>
            <p:custDataLst>
              <p:tags r:id="rId25"/>
            </p:custDataLst>
          </p:nvPr>
        </p:nvSpPr>
        <p:spPr>
          <a:xfrm>
            <a:off x="1143000" y="5641848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学情反馈进入下一轮复习与计划安排</a:t>
            </a:r>
            <a:endParaRPr lang="en-US" sz="12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6" name="标题 45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学习闭环：每一步都为下一步提供依据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内容占位符 2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单击此处编辑母版文本样式</a:t>
            </a:r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第二级</a:t>
            </a:r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第三级</a:t>
            </a:r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第四级</a:t>
            </a:r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第五级</a:t>
            </a:r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两种问答模式，按学习任务自主选择</a:t>
            </a:r>
            <a:endParaRPr lang="en-US" sz="27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05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4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640080" y="1444752"/>
            <a:ext cx="544068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/Personal/Temp/codex-clipboard-20264b02-4c5a-45e1-b7c8-ddeb7e50cec1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42919" y="1341763"/>
            <a:ext cx="4635002" cy="2679192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8"/>
            </p:custDataLst>
          </p:nvPr>
        </p:nvSpPr>
        <p:spPr>
          <a:xfrm>
            <a:off x="777240" y="4288536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课程资料问答：根据检索到的资料片段回答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6291072" y="1444752"/>
            <a:ext cx="525780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/Personal/Temp/codex-clipboard-eb48fa71-20c2-459b-aa64-82c83b5a40b4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602471" y="1394619"/>
            <a:ext cx="4635002" cy="267919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2"/>
            </p:custDataLst>
          </p:nvPr>
        </p:nvSpPr>
        <p:spPr>
          <a:xfrm>
            <a:off x="6428232" y="4288536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大模型问答：不检索本地资料，可用于解释和拓展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3"/>
            </p:custDataLst>
          </p:nvPr>
        </p:nvSpPr>
        <p:spPr>
          <a:xfrm>
            <a:off x="731520" y="4956048"/>
            <a:ext cx="5212080" cy="70408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4"/>
            </p:custDataLst>
          </p:nvPr>
        </p:nvSpPr>
        <p:spPr>
          <a:xfrm>
            <a:off x="853440" y="519963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本地资料库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5"/>
            </p:custDataLst>
          </p:nvPr>
        </p:nvSpPr>
        <p:spPr>
          <a:xfrm>
            <a:off x="1972945" y="4978400"/>
            <a:ext cx="4983480" cy="669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贴近课程 · 展示引用 · 方便核对</a:t>
            </a:r>
            <a:endParaRPr lang="en-US" sz="200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6" name="Shape 12"/>
          <p:cNvSpPr/>
          <p:nvPr>
            <p:custDataLst>
              <p:tags r:id="rId16"/>
            </p:custDataLst>
          </p:nvPr>
        </p:nvSpPr>
        <p:spPr>
          <a:xfrm>
            <a:off x="6291072" y="4956048"/>
            <a:ext cx="5257800" cy="70408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" name="Text 13"/>
          <p:cNvSpPr/>
          <p:nvPr>
            <p:custDataLst>
              <p:tags r:id="rId17"/>
            </p:custDataLst>
          </p:nvPr>
        </p:nvSpPr>
        <p:spPr>
          <a:xfrm>
            <a:off x="6428232" y="519963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3">
                    <a:lumMod val="5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大模型</a:t>
            </a:r>
            <a:endParaRPr lang="en-US" b="1" dirty="0">
              <a:solidFill>
                <a:schemeClr val="accent3">
                  <a:lumMod val="5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>
            <p:custDataLst>
              <p:tags r:id="rId18"/>
            </p:custDataLst>
          </p:nvPr>
        </p:nvSpPr>
        <p:spPr>
          <a:xfrm>
            <a:off x="7388860" y="5084445"/>
            <a:ext cx="3848735" cy="4451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3">
                    <a:lumMod val="5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拓展知识 · 灵活讲解 · 直接对话</a:t>
            </a:r>
            <a:endParaRPr lang="en-US" sz="2000" dirty="0">
              <a:solidFill>
                <a:schemeClr val="accent3">
                  <a:lumMod val="5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9" name="标题 1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401320" y="-616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核心功能</a:t>
            </a: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 · AI </a:t>
            </a: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答疑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RAG 资料问答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06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44752"/>
            <a:ext cx="667512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Image 0" descr="D:/Personal/Temp/codex-clipboard-20264b02-4c5a-45e1-b7c8-ddeb7e50cec1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579349"/>
            <a:ext cx="6510528" cy="3763311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47725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右侧参考来源列出真实检索片段，可查看原文与页码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7662672" y="1581912"/>
            <a:ext cx="3794760" cy="73152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7818120" y="1783080"/>
            <a:ext cx="438912" cy="310896"/>
          </a:xfrm>
          <a:prstGeom prst="roundRect">
            <a:avLst>
              <a:gd name="adj" fmla="val 41176"/>
            </a:avLst>
          </a:prstGeom>
          <a:solidFill>
            <a:schemeClr val="lt1"/>
          </a:solidFill>
          <a:ln w="9525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7891272" y="180136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8430768" y="1605915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上传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8430768" y="1975104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支持 PDF、DOCX、TXT、Markdown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7662672" y="2569464"/>
            <a:ext cx="3794760" cy="73152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7818120" y="2770632"/>
            <a:ext cx="438912" cy="310896"/>
          </a:xfrm>
          <a:prstGeom prst="roundRect">
            <a:avLst>
              <a:gd name="adj" fmla="val 41176"/>
            </a:avLst>
          </a:prstGeom>
          <a:solidFill>
            <a:schemeClr val="lt1"/>
          </a:solidFill>
          <a:ln w="9525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7891272" y="27889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8430768" y="260299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解析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8430768" y="2962656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提取段落、标题、表格并进行分块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7662672" y="3557016"/>
            <a:ext cx="3794760" cy="73152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>
            <p:custDataLst>
              <p:tags r:id="rId19"/>
            </p:custDataLst>
          </p:nvPr>
        </p:nvSpPr>
        <p:spPr>
          <a:xfrm>
            <a:off x="7818120" y="3758184"/>
            <a:ext cx="438912" cy="310896"/>
          </a:xfrm>
          <a:prstGeom prst="roundRect">
            <a:avLst>
              <a:gd name="adj" fmla="val 41176"/>
            </a:avLst>
          </a:prstGeom>
          <a:solidFill>
            <a:schemeClr val="lt1"/>
          </a:solidFill>
          <a:ln w="9525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7891272" y="377647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Text 20"/>
          <p:cNvSpPr/>
          <p:nvPr>
            <p:custDataLst>
              <p:tags r:id="rId21"/>
            </p:custDataLst>
          </p:nvPr>
        </p:nvSpPr>
        <p:spPr>
          <a:xfrm>
            <a:off x="8430768" y="359054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检索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>
            <p:custDataLst>
              <p:tags r:id="rId22"/>
            </p:custDataLst>
          </p:nvPr>
        </p:nvSpPr>
        <p:spPr>
          <a:xfrm>
            <a:off x="8430768" y="3950208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向量召回后重排，按账号过滤资料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Shape 22"/>
          <p:cNvSpPr/>
          <p:nvPr>
            <p:custDataLst>
              <p:tags r:id="rId23"/>
            </p:custDataLst>
          </p:nvPr>
        </p:nvSpPr>
        <p:spPr>
          <a:xfrm>
            <a:off x="7662672" y="4544568"/>
            <a:ext cx="3794760" cy="73152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26" name="Shape 23"/>
          <p:cNvSpPr/>
          <p:nvPr>
            <p:custDataLst>
              <p:tags r:id="rId24"/>
            </p:custDataLst>
          </p:nvPr>
        </p:nvSpPr>
        <p:spPr>
          <a:xfrm>
            <a:off x="7818120" y="4745736"/>
            <a:ext cx="438912" cy="310896"/>
          </a:xfrm>
          <a:prstGeom prst="roundRect">
            <a:avLst>
              <a:gd name="adj" fmla="val 41176"/>
            </a:avLst>
          </a:prstGeom>
          <a:solidFill>
            <a:schemeClr val="lt1"/>
          </a:solidFill>
          <a:ln w="9525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>
            <p:custDataLst>
              <p:tags r:id="rId25"/>
            </p:custDataLst>
          </p:nvPr>
        </p:nvSpPr>
        <p:spPr>
          <a:xfrm>
            <a:off x="7891272" y="476402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04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8" name="Text 25"/>
          <p:cNvSpPr/>
          <p:nvPr>
            <p:custDataLst>
              <p:tags r:id="rId26"/>
            </p:custDataLst>
          </p:nvPr>
        </p:nvSpPr>
        <p:spPr>
          <a:xfrm>
            <a:off x="8430768" y="4559046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生成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9" name="Text 26"/>
          <p:cNvSpPr/>
          <p:nvPr>
            <p:custDataLst>
              <p:tags r:id="rId27"/>
            </p:custDataLst>
          </p:nvPr>
        </p:nvSpPr>
        <p:spPr>
          <a:xfrm>
            <a:off x="8430768" y="4937760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将检索证据交给大模型组织回答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0" name="Shape 27"/>
          <p:cNvSpPr/>
          <p:nvPr>
            <p:custDataLst>
              <p:tags r:id="rId28"/>
            </p:custDataLst>
          </p:nvPr>
        </p:nvSpPr>
        <p:spPr>
          <a:xfrm>
            <a:off x="7662672" y="5577840"/>
            <a:ext cx="3794760" cy="438912"/>
          </a:xfrm>
          <a:prstGeom prst="roundRect">
            <a:avLst>
              <a:gd name="adj" fmla="val 29167"/>
            </a:avLst>
          </a:prstGeom>
          <a:solidFill>
            <a:schemeClr val="accent1"/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1" name="Text 28"/>
          <p:cNvSpPr/>
          <p:nvPr>
            <p:custDataLst>
              <p:tags r:id="rId29"/>
            </p:custDataLst>
          </p:nvPr>
        </p:nvSpPr>
        <p:spPr>
          <a:xfrm>
            <a:off x="7818120" y="5660136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有来源可查；证据不足时明确提示。</a:t>
            </a:r>
            <a:endParaRPr lang="en-US" sz="16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2" name="标题 3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RAG 问答：基于上传资料检索，再生成回答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  <a:sym typeface="+mn-ea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8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94360" y="658368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流式输出：边生成边阅读，完整答案可回看</a:t>
            </a:r>
            <a:endParaRPr lang="en-US" sz="27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07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621792" y="1417320"/>
            <a:ext cx="54406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15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26892" y="1428631"/>
            <a:ext cx="5030480" cy="2907792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8"/>
            </p:custDataLst>
          </p:nvPr>
        </p:nvSpPr>
        <p:spPr>
          <a:xfrm>
            <a:off x="758952" y="4489704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生成过程中持续显示已生成内容与中断操作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6236208" y="1417320"/>
            <a:ext cx="5321808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\数字媒体竞赛\docs\ppt-assets\manual\image16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81872" y="1462987"/>
            <a:ext cx="5030480" cy="290779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2"/>
            </p:custDataLst>
          </p:nvPr>
        </p:nvSpPr>
        <p:spPr>
          <a:xfrm>
            <a:off x="6373368" y="4489704"/>
            <a:ext cx="50474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生成结束后展示完整回答，并支持有帮助 / 需改进反馈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3" name="Shape 9"/>
          <p:cNvSpPr/>
          <p:nvPr>
            <p:custDataLst>
              <p:tags r:id="rId13"/>
            </p:custDataLst>
          </p:nvPr>
        </p:nvSpPr>
        <p:spPr>
          <a:xfrm>
            <a:off x="804672" y="5166360"/>
            <a:ext cx="10469880" cy="658368"/>
          </a:xfrm>
          <a:prstGeom prst="roundRect">
            <a:avLst>
              <a:gd name="adj" fmla="val 19444"/>
            </a:avLst>
          </a:prstGeom>
          <a:solidFill>
            <a:schemeClr val="accent2"/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4"/>
            </p:custDataLst>
          </p:nvPr>
        </p:nvSpPr>
        <p:spPr>
          <a:xfrm>
            <a:off x="1033272" y="535838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用户体验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5"/>
            </p:custDataLst>
          </p:nvPr>
        </p:nvSpPr>
        <p:spPr>
          <a:xfrm>
            <a:off x="1965960" y="5330952"/>
            <a:ext cx="8823960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无需等待整段文字完成才看到结果；答案保留在对话中，便于继续追问。</a:t>
            </a:r>
            <a:endParaRPr lang="en-US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474345" y="-5275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核心功能</a:t>
            </a:r>
            <a:r>
              <a:rPr lang="zh-CN" altLang="en-US" sz="18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 · </a:t>
            </a:r>
            <a:r>
              <a:rPr lang="zh-CN" altLang="en-US" sz="18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实时交互</a:t>
            </a:r>
            <a:endParaRPr lang="zh-CN" altLang="en-US" sz="1800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655695" y="104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学习资料管理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08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40080" y="1417320"/>
            <a:ext cx="553212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4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22376" y="1516503"/>
            <a:ext cx="5367528" cy="3102617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77240" y="4718304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说明书中的资料库管理页面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382512" y="1417320"/>
            <a:ext cx="516636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/Personal/Temp/codex-clipboard-6c49704c-8999-4bd6-ba0b-5ed0989565a2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64808" y="1622214"/>
            <a:ext cx="5001768" cy="2891195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6519672" y="4718304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实际资料库界面：查看知识库、文档索引状态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68680" y="53766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868680" y="544982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1435608" y="5349240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多格式导入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1435608" y="5705856"/>
            <a:ext cx="257860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PDF / DOCX / TXT / Markdown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434840" y="537667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4434840" y="544982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5001768" y="5349240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索引状态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5001768" y="5705856"/>
            <a:ext cx="257860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解析、分块、向量化、已就绪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001000" y="537667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22" name="Text 18"/>
          <p:cNvSpPr/>
          <p:nvPr>
            <p:custDataLst>
              <p:tags r:id="rId18"/>
            </p:custDataLst>
          </p:nvPr>
        </p:nvSpPr>
        <p:spPr>
          <a:xfrm>
            <a:off x="8001000" y="544982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Text 19"/>
          <p:cNvSpPr/>
          <p:nvPr>
            <p:custDataLst>
              <p:tags r:id="rId19"/>
            </p:custDataLst>
          </p:nvPr>
        </p:nvSpPr>
        <p:spPr>
          <a:xfrm>
            <a:off x="8567928" y="534924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账号隔离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4" name="Text 20"/>
          <p:cNvSpPr/>
          <p:nvPr>
            <p:custDataLst>
              <p:tags r:id="rId20"/>
            </p:custDataLst>
          </p:nvPr>
        </p:nvSpPr>
        <p:spPr>
          <a:xfrm>
            <a:off x="8567928" y="5705856"/>
            <a:ext cx="267004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资料按账号独立管理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课程资料库：上传、索引、检索一体化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课程体系</a:t>
            </a:r>
            <a:endParaRPr lang="en-US" sz="12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09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40080" y="1444752"/>
            <a:ext cx="553212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5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22376" y="1543935"/>
            <a:ext cx="5367528" cy="3102617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77240" y="4745736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课程列表展示课程分类、知识点数量与学习进度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382512" y="1444752"/>
            <a:ext cx="5166360" cy="361188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\数字媒体竞赛\docs\ppt-assets\manual\image6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64808" y="1649646"/>
            <a:ext cx="5001768" cy="2891195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6519672" y="4745736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课程目录展开到章节和知识点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2"/>
            </p:custDataLst>
          </p:nvPr>
        </p:nvSpPr>
        <p:spPr>
          <a:xfrm>
            <a:off x="777240" y="5376672"/>
            <a:ext cx="10561320" cy="502920"/>
          </a:xfrm>
          <a:prstGeom prst="roundRect">
            <a:avLst>
              <a:gd name="adj" fmla="val 25455"/>
            </a:avLst>
          </a:prstGeom>
          <a:solidFill>
            <a:schemeClr val="accent2"/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1051560" y="5486400"/>
            <a:ext cx="10012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课程 → 章节 → 知识点 → 练习与复习</a:t>
            </a:r>
            <a:endParaRPr lang="en-US" sz="14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38480" y="40445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课程与知识目录：从课程入口定位知识点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知识图谱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10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40080" y="1371600"/>
            <a:ext cx="73152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7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3293" y="1389782"/>
            <a:ext cx="6928775" cy="4005072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77240" y="5541264"/>
            <a:ext cx="7040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课程知识图谱：节点表示课程、章节与知识点，连线表示先修关系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8229600" y="1691640"/>
            <a:ext cx="32461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8458200" y="18470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一张图看清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8458200" y="219456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知识点如何关联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8229600" y="295351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8239125" y="3054985"/>
            <a:ext cx="384175" cy="1835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8796528" y="292608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定位前置知识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8796528" y="3282696"/>
            <a:ext cx="253288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发现学习某个概念需要哪些基础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8229600" y="394106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8229600" y="405231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8796528" y="391363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辅助复习路径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8"/>
            </p:custDataLst>
          </p:nvPr>
        </p:nvSpPr>
        <p:spPr>
          <a:xfrm>
            <a:off x="8796528" y="4270248"/>
            <a:ext cx="253288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沿先修关系梳理学习顺序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Shape 18"/>
          <p:cNvSpPr/>
          <p:nvPr>
            <p:custDataLst>
              <p:tags r:id="rId19"/>
            </p:custDataLst>
          </p:nvPr>
        </p:nvSpPr>
        <p:spPr>
          <a:xfrm>
            <a:off x="8229600" y="4983480"/>
            <a:ext cx="3154680" cy="502920"/>
          </a:xfrm>
          <a:prstGeom prst="roundRect">
            <a:avLst>
              <a:gd name="adj" fmla="val 25455"/>
            </a:avLst>
          </a:prstGeom>
          <a:solidFill>
            <a:schemeClr val="accent4"/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8357616" y="5093208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图谱节点 ≠ 掌握度</a:t>
            </a:r>
            <a:endParaRPr lang="en-US" sz="1600" b="1" dirty="0">
              <a:solidFill>
                <a:schemeClr val="accent4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知识图谱：把知识点关系变成可探索的结构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错题本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11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17320"/>
            <a:ext cx="6583680" cy="4315968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Image 0" descr="D:/Personal/Temp/codex-clipboard-013ecc36-8cee-44ad-95db-93837300273a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564628"/>
            <a:ext cx="6419088" cy="3710455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422392"/>
            <a:ext cx="6309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错题本：查看课程、难度、答错次数与下次复习时间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635240" y="167335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错题数据帮助学生回答三个问题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80960" y="2423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7680960" y="249631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8247888" y="239572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错在哪里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8247888" y="2752344"/>
            <a:ext cx="308152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回看原题、答案与知识点说明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80960" y="33467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7680960" y="341985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8247888" y="331927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为什么错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8247888" y="3675888"/>
            <a:ext cx="308152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记录错误原因与答题情况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80960" y="42702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7680960" y="4343400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8247888" y="424281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何时复习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17"/>
            </p:custDataLst>
          </p:nvPr>
        </p:nvSpPr>
        <p:spPr>
          <a:xfrm>
            <a:off x="8247888" y="4599432"/>
            <a:ext cx="308152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结合复习状态安排回顾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7662672" y="5330952"/>
            <a:ext cx="3730752" cy="457200"/>
          </a:xfrm>
          <a:prstGeom prst="roundRect">
            <a:avLst>
              <a:gd name="adj" fmla="val 28000"/>
            </a:avLst>
          </a:prstGeom>
          <a:solidFill>
            <a:schemeClr val="accent4"/>
          </a:solidFill>
          <a:ln w="9525">
            <a:solidFill>
              <a:schemeClr val="accent4">
                <a:alpha val="0"/>
              </a:scheme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7790688" y="5431536"/>
            <a:ext cx="345643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错题整理是后续举一反三的起点</a:t>
            </a:r>
            <a:endParaRPr lang="en-US" sz="1600" b="1" dirty="0">
              <a:solidFill>
                <a:schemeClr val="accent4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错题整理：记录错误原因，形成复习入口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重点创新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12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399032"/>
            <a:ext cx="681228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Image 0" descr="D:/Personal/Temp/codex-clipboard-8ec16c94-400e-4be0-ba3c-40d52be6eba5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585427"/>
            <a:ext cx="6647688" cy="3842594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614416"/>
            <a:ext cx="65379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新情境变式练习页面：保持知识目标，改变题目情境与表述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790688" y="16459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练习设计原则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7818120" y="2359152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7818120" y="243230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8385048" y="233172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不重复原题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8385048" y="2688336"/>
            <a:ext cx="303580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保留核心考点，重构题干与场景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7818120" y="3246120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7818120" y="331927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8385048" y="321868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一次生成三题</a:t>
            </a:r>
            <a:endParaRPr lang="en-US" sz="1600" b="1" dirty="0">
              <a:solidFill>
                <a:schemeClr val="accent2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8385048" y="3575304"/>
            <a:ext cx="303580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从不同角度检验知识理解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>
            <p:custDataLst>
              <p:tags r:id="rId17"/>
            </p:custDataLst>
          </p:nvPr>
        </p:nvSpPr>
        <p:spPr>
          <a:xfrm>
            <a:off x="7818120" y="4133088"/>
            <a:ext cx="384048" cy="384048"/>
          </a:xfrm>
          <a:prstGeom prst="ellipse">
            <a:avLst/>
          </a:prstGeom>
          <a:solidFill>
            <a:schemeClr val="lt1"/>
          </a:solidFill>
          <a:ln w="12700">
            <a:solidFill>
              <a:srgbClr val="F4A94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18"/>
            </p:custDataLst>
          </p:nvPr>
        </p:nvSpPr>
        <p:spPr>
          <a:xfrm>
            <a:off x="7818120" y="4206240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chemeClr val="bg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8385048" y="4105656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重在迁移应用</a:t>
            </a:r>
            <a:endParaRPr lang="en-US" sz="1600" b="1" dirty="0">
              <a:solidFill>
                <a:schemeClr val="accent3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8385048" y="4462272"/>
            <a:ext cx="303580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帮助学生判断是否真正掌握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21"/>
            </p:custDataLst>
          </p:nvPr>
        </p:nvSpPr>
        <p:spPr>
          <a:xfrm>
            <a:off x="7772400" y="5230368"/>
            <a:ext cx="3657600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22"/>
            </p:custDataLst>
          </p:nvPr>
        </p:nvSpPr>
        <p:spPr>
          <a:xfrm>
            <a:off x="7936992" y="5376672"/>
            <a:ext cx="33284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从“改对答案”到“会用知识”</a:t>
            </a:r>
            <a:endParaRPr lang="en-US" sz="16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举一反三：一道错题，生成三道变式练习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学习画像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13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371600"/>
            <a:ext cx="6812280" cy="4498848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Image 0" descr="D:/Personal/Temp/codex-clipboard-a433ee31-dff4-4dee-aae8-72f7c62f0fa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544279"/>
            <a:ext cx="6647688" cy="3842594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559552"/>
            <a:ext cx="65379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学习数据分析：学习时长、测验表现、错题状态与待关注知识点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790688" y="167335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画像关注的学习信号</a:t>
            </a:r>
            <a:endParaRPr lang="en-US" sz="16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7790688" y="2304288"/>
            <a:ext cx="3611880" cy="521208"/>
          </a:xfrm>
          <a:prstGeom prst="roundRect">
            <a:avLst>
              <a:gd name="adj" fmla="val 24561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7973568" y="2414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进度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8961120" y="241401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课程与计划完成情况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7790688" y="3017520"/>
            <a:ext cx="3611880" cy="521208"/>
          </a:xfrm>
          <a:prstGeom prst="roundRect">
            <a:avLst>
              <a:gd name="adj" fmla="val 24561"/>
            </a:avLst>
          </a:prstGeom>
          <a:solidFill>
            <a:schemeClr val="accent2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7973568" y="31272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掌握情况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8961120" y="31272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测验记录与间隔复测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7790688" y="3730752"/>
            <a:ext cx="3611880" cy="521208"/>
          </a:xfrm>
          <a:prstGeom prst="roundRect">
            <a:avLst>
              <a:gd name="adj" fmla="val 24561"/>
            </a:avLst>
          </a:prstGeom>
          <a:solidFill>
            <a:schemeClr val="accent1"/>
          </a:solidFill>
          <a:ln w="9525">
            <a:solidFill>
              <a:srgbClr val="E9D9FA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7973568" y="38404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薄弱知识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8961120" y="38404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按错题频次定位关注点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7790688" y="4443984"/>
            <a:ext cx="3611880" cy="521208"/>
          </a:xfrm>
          <a:prstGeom prst="roundRect">
            <a:avLst>
              <a:gd name="adj" fmla="val 24561"/>
            </a:avLst>
          </a:prstGeom>
          <a:solidFill>
            <a:schemeClr val="accent2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7973568" y="455371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学习节奏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8961120" y="45537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学习时长与近期任务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>
            <p:custDataLst>
              <p:tags r:id="rId21"/>
            </p:custDataLst>
          </p:nvPr>
        </p:nvSpPr>
        <p:spPr>
          <a:xfrm>
            <a:off x="7790688" y="5358384"/>
            <a:ext cx="3611880" cy="420624"/>
          </a:xfrm>
          <a:prstGeom prst="roundRect">
            <a:avLst>
              <a:gd name="adj" fmla="val 30435"/>
            </a:avLst>
          </a:prstGeom>
          <a:solidFill>
            <a:schemeClr val="accent1"/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22"/>
            </p:custDataLst>
          </p:nvPr>
        </p:nvSpPr>
        <p:spPr>
          <a:xfrm>
            <a:off x="7918704" y="5449824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分析当前账号的真实学习记录</a:t>
            </a:r>
            <a:endParaRPr lang="en-US" sz="16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学习分析：把学习记录转化为下一步建议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核心功能 · 个性化服务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14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17320"/>
            <a:ext cx="553212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9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699383"/>
            <a:ext cx="5367528" cy="3102617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084064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学习计划页面：任务、课程、时间与优先级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382512" y="1417320"/>
            <a:ext cx="516636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/Personal/Temp/codex-clipboard-5256bbd1-e997-4d63-9f23-f63719169870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64808" y="1805094"/>
            <a:ext cx="5001768" cy="2891195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6519672" y="5084064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学习总览展示近期任务与复习建议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2"/>
            </p:custDataLst>
          </p:nvPr>
        </p:nvSpPr>
        <p:spPr>
          <a:xfrm>
            <a:off x="822960" y="5596128"/>
            <a:ext cx="10424160" cy="420624"/>
          </a:xfrm>
          <a:prstGeom prst="roundRect">
            <a:avLst>
              <a:gd name="adj" fmla="val 30435"/>
            </a:avLst>
          </a:prstGeom>
          <a:solidFill>
            <a:schemeClr val="accent2"/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1005840" y="567842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课程先修关系 + 掌握情况 + 到期错题 → 生成有优先级的学习任务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23875" y="41397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个性化学习计划：根据掌握情况安排任务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平台管理 · 内容维护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15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" y="1417320"/>
            <a:ext cx="5559552" cy="4005072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0" descr="D:\数字媒体竞赛\docs\ppt-assets\manual\image1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4088" y="1705171"/>
            <a:ext cx="5394960" cy="3118474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58952" y="5111496"/>
            <a:ext cx="528523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课程内容维护：管理课程、知识节点与先修关系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382512" y="1417320"/>
            <a:ext cx="5166360" cy="4005072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1" name="Image 1" descr="D:\数字媒体竞赛\docs\ppt-assets\manual\image14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464808" y="1818810"/>
            <a:ext cx="5001768" cy="2891195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6519672" y="5111496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练习题维护：编辑题干、题型、难度、选项与解析</a:t>
            </a:r>
            <a:endParaRPr lang="en-US" sz="900" dirty="0">
              <a:solidFill>
                <a:schemeClr val="accent1">
                  <a:lumMod val="5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>
            <p:custDataLst>
              <p:tags r:id="rId12"/>
            </p:custDataLst>
          </p:nvPr>
        </p:nvSpPr>
        <p:spPr>
          <a:xfrm>
            <a:off x="804672" y="5632704"/>
            <a:ext cx="10424160" cy="475488"/>
          </a:xfrm>
          <a:prstGeom prst="roundRect">
            <a:avLst>
              <a:gd name="adj" fmla="val 26923"/>
            </a:avLst>
          </a:prstGeom>
          <a:solidFill>
            <a:schemeClr val="accent2"/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1024128" y="57424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权限控制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4"/>
            </p:custDataLst>
          </p:nvPr>
        </p:nvSpPr>
        <p:spPr>
          <a:xfrm>
            <a:off x="1993392" y="5724144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管理员维护课程内容；普通学习者用于学习、答题与复习。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课程内容维护：由管理员负责课程与题库更新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系统架构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16</a:t>
            </a:r>
            <a:endParaRPr lang="en-US" sz="16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58368" y="1828800"/>
            <a:ext cx="2487168" cy="1901952"/>
          </a:xfrm>
          <a:prstGeom prst="roundRect">
            <a:avLst>
              <a:gd name="adj" fmla="val 6731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822960" y="2011680"/>
            <a:ext cx="2157984" cy="310896"/>
          </a:xfrm>
          <a:prstGeom prst="roundRect">
            <a:avLst>
              <a:gd name="adj" fmla="val 41176"/>
            </a:avLst>
          </a:prstGeom>
          <a:solidFill>
            <a:schemeClr val="accent1"/>
          </a:solidFill>
          <a:ln w="9525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96112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前端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22960" y="269748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Vue 3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22960" y="3154680"/>
            <a:ext cx="215798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课程工作台 / 图谱 / 答疑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3511296" y="1828800"/>
            <a:ext cx="2487168" cy="1901952"/>
          </a:xfrm>
          <a:prstGeom prst="roundRect">
            <a:avLst>
              <a:gd name="adj" fmla="val 6731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3675888" y="2011680"/>
            <a:ext cx="2157984" cy="310896"/>
          </a:xfrm>
          <a:prstGeom prst="roundRect">
            <a:avLst>
              <a:gd name="adj" fmla="val 41176"/>
            </a:avLst>
          </a:prstGeom>
          <a:solidFill>
            <a:schemeClr val="accent1"/>
          </a:solidFill>
          <a:ln w="9525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3749040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服务端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3675888" y="269748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FastAPI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3675888" y="3154680"/>
            <a:ext cx="215798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账号、资料处理、SSE接口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6364224" y="1828800"/>
            <a:ext cx="2487168" cy="1901952"/>
          </a:xfrm>
          <a:prstGeom prst="roundRect">
            <a:avLst>
              <a:gd name="adj" fmla="val 6731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5"/>
            </p:custDataLst>
          </p:nvPr>
        </p:nvSpPr>
        <p:spPr>
          <a:xfrm>
            <a:off x="6528816" y="2011680"/>
            <a:ext cx="2157984" cy="310896"/>
          </a:xfrm>
          <a:prstGeom prst="roundRect">
            <a:avLst>
              <a:gd name="adj" fmla="val 41176"/>
            </a:avLst>
          </a:prstGeom>
          <a:solidFill>
            <a:schemeClr val="accent1"/>
          </a:solidFill>
          <a:ln w="9525">
            <a:solidFill>
              <a:srgbClr val="9674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6601968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检索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6528816" y="269748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FastEmbed + Qdrant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528816" y="3154680"/>
            <a:ext cx="215798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向量召回 / 重排 / 证据门控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2" name="Shape 20"/>
          <p:cNvSpPr/>
          <p:nvPr>
            <p:custDataLst>
              <p:tags r:id="rId19"/>
            </p:custDataLst>
          </p:nvPr>
        </p:nvSpPr>
        <p:spPr>
          <a:xfrm>
            <a:off x="9217152" y="1828800"/>
            <a:ext cx="2487168" cy="1901952"/>
          </a:xfrm>
          <a:prstGeom prst="roundRect">
            <a:avLst>
              <a:gd name="adj" fmla="val 6731"/>
            </a:avLst>
          </a:prstGeom>
          <a:solidFill>
            <a:schemeClr val="accent1"/>
          </a:solidFill>
          <a:ln w="9525">
            <a:solidFill>
              <a:srgbClr val="E7E1F2"/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20"/>
            </p:custDataLst>
          </p:nvPr>
        </p:nvSpPr>
        <p:spPr>
          <a:xfrm>
            <a:off x="9381744" y="2011680"/>
            <a:ext cx="2157984" cy="310896"/>
          </a:xfrm>
          <a:prstGeom prst="roundRect">
            <a:avLst>
              <a:gd name="adj" fmla="val 41176"/>
            </a:avLst>
          </a:prstGeom>
          <a:solidFill>
            <a:schemeClr val="accent1"/>
          </a:solidFill>
          <a:ln w="9525">
            <a:solidFill>
              <a:srgbClr val="F4A94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21"/>
            </p:custDataLst>
          </p:nvPr>
        </p:nvSpPr>
        <p:spPr>
          <a:xfrm>
            <a:off x="9454896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模型</a:t>
            </a:r>
            <a:endParaRPr lang="en-US" sz="16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22"/>
            </p:custDataLst>
          </p:nvPr>
        </p:nvSpPr>
        <p:spPr>
          <a:xfrm>
            <a:off x="9381744" y="269748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OpenAI兼容接口</a:t>
            </a:r>
            <a:endParaRPr lang="en-US" sz="16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9381744" y="3154680"/>
            <a:ext cx="215798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可配置模型服务 / 流式生成</a:t>
            </a:r>
            <a:endParaRPr lang="en-US" sz="16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7" name="Shape 25"/>
          <p:cNvSpPr/>
          <p:nvPr>
            <p:custDataLst>
              <p:tags r:id="rId24"/>
            </p:custDataLst>
          </p:nvPr>
        </p:nvSpPr>
        <p:spPr>
          <a:xfrm>
            <a:off x="3172968" y="2743200"/>
            <a:ext cx="301752" cy="914"/>
          </a:xfrm>
          <a:prstGeom prst="line">
            <a:avLst/>
          </a:prstGeom>
          <a:noFill/>
          <a:ln w="19050">
            <a:solidFill>
              <a:srgbClr val="B9A7E9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>
            <p:custDataLst>
              <p:tags r:id="rId25"/>
            </p:custDataLst>
          </p:nvPr>
        </p:nvSpPr>
        <p:spPr>
          <a:xfrm>
            <a:off x="6025896" y="2743200"/>
            <a:ext cx="301752" cy="914"/>
          </a:xfrm>
          <a:prstGeom prst="line">
            <a:avLst/>
          </a:prstGeom>
          <a:noFill/>
          <a:ln w="19050">
            <a:solidFill>
              <a:srgbClr val="B9A7E9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8878824" y="2743200"/>
            <a:ext cx="301752" cy="914"/>
          </a:xfrm>
          <a:prstGeom prst="line">
            <a:avLst/>
          </a:prstGeom>
          <a:noFill/>
          <a:ln w="19050">
            <a:solidFill>
              <a:srgbClr val="B9A7E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777240" y="4316095"/>
            <a:ext cx="10652760" cy="648335"/>
          </a:xfrm>
          <a:prstGeom prst="roundRect">
            <a:avLst>
              <a:gd name="adj" fmla="val 12174"/>
            </a:avLst>
          </a:prstGeom>
          <a:solidFill>
            <a:schemeClr val="accent1"/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1024128" y="452628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工程要点</a:t>
            </a:r>
            <a:endParaRPr lang="en-US" sz="16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2194560" y="4480560"/>
            <a:ext cx="88696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账号数据隔离 · 来源可追溯 · SSE 流式输出 · 无证据时明确拒答 · 内容维护权限控制</a:t>
            </a:r>
            <a:endParaRPr lang="en-US" sz="1600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33" name="Text 31"/>
          <p:cNvSpPr/>
          <p:nvPr>
            <p:custDataLst>
              <p:tags r:id="rId30"/>
            </p:custDataLst>
          </p:nvPr>
        </p:nvSpPr>
        <p:spPr>
          <a:xfrm>
            <a:off x="960120" y="571500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当前仓库实际使用 Qdrant 与 FastEmbed 作为向量检索组件，大模型服务由后端配置接入。</a:t>
            </a:r>
            <a:endParaRPr lang="en-US" sz="1600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34" name="标题 33"/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技术实现：检索、证据与生成分层协作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94360" y="320040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5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作品总结</a:t>
            </a:r>
            <a:endParaRPr lang="en-US" sz="900" b="1" kern="0" spc="125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1109960" y="643737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17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594360" y="64190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智学研途  ·  STUDYPATH AI</a:t>
            </a:r>
            <a:endParaRPr lang="en-US" sz="1600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49808" y="1481328"/>
            <a:ext cx="6126480" cy="1920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有依据地答疑</a:t>
            </a:r>
            <a:endParaRPr lang="en-US" sz="3200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有目标地练习</a:t>
            </a:r>
            <a:endParaRPr lang="en-US" sz="3200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有反馈地进步</a:t>
            </a:r>
            <a:endParaRPr lang="en-US" sz="3200" b="1" dirty="0">
              <a:solidFill>
                <a:schemeClr val="tx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86384" y="38862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RAG 资料问答  ·  错题举一反三  ·  知识图谱  ·  用户画像与计划</a:t>
            </a:r>
            <a:endParaRPr lang="en-US" sz="1500" b="1" dirty="0">
              <a:solidFill>
                <a:schemeClr val="accent1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6384" y="4709160"/>
            <a:ext cx="2267712" cy="859536"/>
          </a:xfrm>
          <a:prstGeom prst="roundRect">
            <a:avLst>
              <a:gd name="adj" fmla="val 14894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77824" y="4828032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可核对</a:t>
            </a:r>
            <a:endParaRPr lang="en-US" sz="1400" b="1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77824" y="51846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回答关联资料来源</a:t>
            </a:r>
            <a:endParaRPr lang="en-US" sz="9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92424" y="4709160"/>
            <a:ext cx="2267712" cy="859536"/>
          </a:xfrm>
          <a:prstGeom prst="roundRect">
            <a:avLst>
              <a:gd name="adj" fmla="val 14894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483864" y="4828032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可迁移</a:t>
            </a:r>
            <a:endParaRPr lang="en-US" sz="14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483864" y="51846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错题生成不同情境练习</a:t>
            </a:r>
            <a:endParaRPr lang="en-US" sz="9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98464" y="4709160"/>
            <a:ext cx="2267712" cy="859536"/>
          </a:xfrm>
          <a:prstGeom prst="roundRect">
            <a:avLst>
              <a:gd name="adj" fmla="val 14894"/>
            </a:avLst>
          </a:prstGeom>
          <a:solidFill>
            <a:schemeClr val="accent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089904" y="4828032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可适配</a:t>
            </a:r>
            <a:endParaRPr lang="en-US" sz="1400" b="1" dirty="0">
              <a:solidFill>
                <a:srgbClr val="FFFFFF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089904" y="51846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chemeClr val="lt1"/>
                </a:solidFill>
                <a:latin typeface="方正公文小标宋" panose="02000500000000000000" charset="-122"/>
                <a:ea typeface="方正公文小标宋" panose="02000500000000000000" charset="-122"/>
                <a:cs typeface="微软雅黑" panose="020B0503020204020204" pitchFamily="34" charset="-120"/>
              </a:rPr>
              <a:t>学习建议跟随学情调整</a:t>
            </a:r>
            <a:endParaRPr lang="en-US" sz="900" dirty="0">
              <a:solidFill>
                <a:schemeClr val="lt1"/>
              </a:solidFill>
              <a:latin typeface="方正公文小标宋" panose="02000500000000000000" charset="-122"/>
              <a:ea typeface="方正公文小标宋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sym typeface="+mn-ea"/>
              </a:rPr>
              <a:t>以学生为中心，让学习支持形成闭环</a:t>
            </a:r>
            <a:endParaRPr lang="zh-CN" altLang="en-US" dirty="0">
              <a:latin typeface="方正公文小标宋" panose="02000500000000000000" charset="-122"/>
              <a:ea typeface="方正公文小标宋" panose="02000500000000000000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1"/>
</p:tagLst>
</file>

<file path=ppt/tags/tag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6"/>
</p:tagLst>
</file>

<file path=ppt/tags/tag3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3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3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4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4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5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2"/>
</p:tagLst>
</file>

<file path=ppt/tags/tag7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25"/>
</p:tagLst>
</file>

<file path=ppt/tags/tag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25"/>
</p:tagLst>
</file>

<file path=ppt/tags/tag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25"/>
  <p:tag name="KSO_WM_TEMPLATE_CATEGORY" val="custom"/>
  <p:tag name="KSO_WM_TEMPLATE_MASTER_TYPE" val="0"/>
</p:tagLst>
</file>

<file path=ppt/tags/tag85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8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9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97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SLIDE_THEME_ID" val="3401948"/>
  <p:tag name="KSO_WM_SLIDE_THEME_NAME" val="商务风笔记本电脑职场办公"/>
</p:tagLst>
</file>

<file path=ppt/tags/tag10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0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0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0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</p:tagLst>
</file>

<file path=ppt/tags/tag10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09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110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</p:tagLst>
</file>

<file path=ppt/tags/tag11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12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113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</p:tagLst>
</file>

<file path=ppt/tags/tag11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15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11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1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2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2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</p:tagLst>
</file>

<file path=ppt/tags/tag12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29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130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</p:tagLst>
</file>

<file path=ppt/tags/tag13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32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133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</p:tagLst>
</file>

<file path=ppt/tags/tag13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35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13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3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TEXT" val="一个平台，覆盖学习的关键环节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4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42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44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4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4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47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48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49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</p:tagLst>
</file>

<file path=ppt/tags/tag150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</p:tagLst>
</file>

<file path=ppt/tags/tag15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TEXT" val="一个平台，覆盖学习的关键环节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9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160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161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162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163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164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165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166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167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168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</p:tagLst>
</file>

<file path=ppt/tags/tag169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</p:tagLst>
</file>

<file path=ppt/tags/tag170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</p:tagLst>
</file>

<file path=ppt/tags/tag171.xml><?xml version="1.0" encoding="utf-8"?>
<p:tagLst xmlns:p="http://schemas.openxmlformats.org/presentationml/2006/main">
  <p:tag name="KSO_WM_UNIT_INDEX" val="1_5_1"/>
  <p:tag name="KSO_WM_UNIT_TYPE" val="l_h_i"/>
  <p:tag name="KSO_WM_UNIT_SUBTYPE" val="d"/>
  <p:tag name="KSO_WM_TEMPLATE_CATEGORY" val="diagram"/>
  <p:tag name="KSO_WM_TEMPLATE_INDEX" val="19882022"/>
  <p:tag name="KSO_WM_UNIT_ID" val="diagram19882022*l_h_i*1_5_1"/>
  <p:tag name="KSO_WM_DIAGRAM_GROUP_CODE" val="l1-1"/>
  <p:tag name="KSO_WM_TAG_VERSION" val="2.0"/>
  <p:tag name="KSO_WM_BEAUTIFY_FLAG" val="#wm#"/>
</p:tagLst>
</file>

<file path=ppt/tags/tag172.xml><?xml version="1.0" encoding="utf-8"?>
<p:tagLst xmlns:p="http://schemas.openxmlformats.org/presentationml/2006/main">
  <p:tag name="KSO_WM_UNIT_INDEX" val="1_5_2"/>
  <p:tag name="KSO_WM_UNIT_TYPE" val="l_h_a"/>
  <p:tag name="KSO_WM_TEMPLATE_CATEGORY" val="diagram"/>
  <p:tag name="KSO_WM_TEMPLATE_INDEX" val="19882022"/>
  <p:tag name="KSO_WM_UNIT_ID" val="diagram19882022*l_h_a*1_5_2"/>
  <p:tag name="KSO_WM_DIAGRAM_GROUP_CODE" val="l1-1"/>
  <p:tag name="KSO_WM_TAG_VERSION" val="2.0"/>
  <p:tag name="KSO_WM_BEAUTIFY_FLAG" val="#wm#"/>
</p:tagLst>
</file>

<file path=ppt/tags/tag173.xml><?xml version="1.0" encoding="utf-8"?>
<p:tagLst xmlns:p="http://schemas.openxmlformats.org/presentationml/2006/main">
  <p:tag name="KSO_WM_UNIT_INDEX" val="1_5_3"/>
  <p:tag name="KSO_WM_UNIT_TYPE" val="l_h_f"/>
  <p:tag name="KSO_WM_UNIT_SUBTYPE" val="a"/>
  <p:tag name="KSO_WM_TEMPLATE_CATEGORY" val="diagram"/>
  <p:tag name="KSO_WM_TEMPLATE_INDEX" val="19882022"/>
  <p:tag name="KSO_WM_UNIT_ID" val="diagram19882022*l_h_f*1_5_3"/>
  <p:tag name="KSO_WM_DIAGRAM_GROUP_CODE" val="l1-1"/>
  <p:tag name="KSO_WM_TAG_VERSION" val="2.0"/>
  <p:tag name="KSO_WM_BEAUTIFY_FLAG" val="#wm#"/>
</p:tagLst>
</file>

<file path=ppt/tags/tag174.xml><?xml version="1.0" encoding="utf-8"?>
<p:tagLst xmlns:p="http://schemas.openxmlformats.org/presentationml/2006/main">
  <p:tag name="KSO_WM_UNIT_INDEX" val="1_6_1"/>
  <p:tag name="KSO_WM_UNIT_TYPE" val="l_h_i"/>
  <p:tag name="KSO_WM_UNIT_SUBTYPE" val="d"/>
  <p:tag name="KSO_WM_TEMPLATE_CATEGORY" val="diagram"/>
  <p:tag name="KSO_WM_TEMPLATE_INDEX" val="19882022"/>
  <p:tag name="KSO_WM_UNIT_ID" val="diagram19882022*l_h_i*1_6_1"/>
  <p:tag name="KSO_WM_DIAGRAM_GROUP_CODE" val="l1-1"/>
  <p:tag name="KSO_WM_TAG_VERSION" val="2.0"/>
  <p:tag name="KSO_WM_BEAUTIFY_FLAG" val="#wm#"/>
</p:tagLst>
</file>

<file path=ppt/tags/tag175.xml><?xml version="1.0" encoding="utf-8"?>
<p:tagLst xmlns:p="http://schemas.openxmlformats.org/presentationml/2006/main">
  <p:tag name="KSO_WM_UNIT_INDEX" val="1_6_2"/>
  <p:tag name="KSO_WM_UNIT_TYPE" val="l_h_a"/>
  <p:tag name="KSO_WM_TEMPLATE_CATEGORY" val="diagram"/>
  <p:tag name="KSO_WM_TEMPLATE_INDEX" val="19882022"/>
  <p:tag name="KSO_WM_UNIT_ID" val="diagram19882022*l_h_a*1_6_2"/>
  <p:tag name="KSO_WM_DIAGRAM_GROUP_CODE" val="l1-1"/>
  <p:tag name="KSO_WM_TAG_VERSION" val="2.0"/>
  <p:tag name="KSO_WM_BEAUTIFY_FLAG" val="#wm#"/>
</p:tagLst>
</file>

<file path=ppt/tags/tag176.xml><?xml version="1.0" encoding="utf-8"?>
<p:tagLst xmlns:p="http://schemas.openxmlformats.org/presentationml/2006/main">
  <p:tag name="KSO_WM_UNIT_INDEX" val="1_6_3"/>
  <p:tag name="KSO_WM_UNIT_TYPE" val="l_h_f"/>
  <p:tag name="KSO_WM_UNIT_SUBTYPE" val="a"/>
  <p:tag name="KSO_WM_TEMPLATE_CATEGORY" val="diagram"/>
  <p:tag name="KSO_WM_TEMPLATE_INDEX" val="19882022"/>
  <p:tag name="KSO_WM_UNIT_ID" val="diagram19882022*l_h_f*1_6_3"/>
  <p:tag name="KSO_WM_DIAGRAM_GROUP_CODE" val="l1-1"/>
  <p:tag name="KSO_WM_TAG_VERSION" val="2.0"/>
  <p:tag name="KSO_WM_BEAUTIFY_FLAG" val="#wm#"/>
</p:tagLst>
</file>

<file path=ppt/tags/tag17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7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79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8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TEXT" val="从真实学习难点出发设计功能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8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88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8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91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9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9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97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01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02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203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20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5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0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4*l_h_i*1_1_2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08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4*l_h_x*1_1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09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90.88,&quot;left&quot;:603.36,&quot;top&quot;:124.55999999999999,&quot;width&quot;:298.8}"/>
</p:tagLst>
</file>

<file path=ppt/tags/tag210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1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2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4*l_h_i*1_2_2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3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4*l_h_x*1_2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4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90.88,&quot;left&quot;:603.36,&quot;top&quot;:124.55999999999999,&quot;width&quot;:298.8}"/>
</p:tagLst>
</file>

<file path=ppt/tags/tag215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6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7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4*l_h_i*1_3_2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8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4*l_h_x*1_3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19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90.88,&quot;left&quot;:603.36,&quot;top&quot;:124.55999999999999,&quot;width&quot;:298.8}"/>
</p:tagLst>
</file>

<file path=ppt/tags/tag220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1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2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4*l_h_i*1_4_2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3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4*l_h_x*1_4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4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90.88,&quot;left&quot;:603.36,&quot;top&quot;:124.55999999999999,&quot;width&quot;:298.8}"/>
</p:tagLst>
</file>

<file path=ppt/tags/tag225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6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  <p:tag name="KSO_WM_DIAGRAM_VIRTUALLY_FRAME" val="{&quot;height&quot;:290.88,&quot;left&quot;:603.36,&quot;top&quot;:124.55999999999999,&quot;width&quot;:298.8}"/>
</p:tagLst>
</file>

<file path=ppt/tags/tag22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228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UNIT_TEXT" val="学习闭环：每一步都为下一步提供依据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23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33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3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3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36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3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3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39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24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4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TEXT" val="核心功能 · AI 答疑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4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4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4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50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25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5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53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5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55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</p:tagLst>
</file>

<file path=ppt/tags/tag25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257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258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</p:tagLst>
</file>

<file path=ppt/tags/tag259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260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261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</p:tagLst>
</file>

<file path=ppt/tags/tag262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263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264.xml><?xml version="1.0" encoding="utf-8"?>
<p:tagLst xmlns:p="http://schemas.openxmlformats.org/presentationml/2006/main">
  <p:tag name="KSO_WM_UNIT_TEXT" val="RAG 问答：基于上传资料检索，再生成回答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6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67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6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6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70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27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7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73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7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7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76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TEXT" val="课程资料库：上传、索引、检索一体化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7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7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280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281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8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83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84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8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8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8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8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8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91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93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94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9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96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9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98.xml><?xml version="1.0" encoding="utf-8"?>
<p:tagLst xmlns:p="http://schemas.openxmlformats.org/presentationml/2006/main">
  <p:tag name="KSO_WM_UNIT_TEXT" val="课程与知识目录：从课程入口定位知识点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9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0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01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0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0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0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30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0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07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</p:tagLst>
</file>

<file path=ppt/tags/tag30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309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310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</p:tagLst>
</file>

<file path=ppt/tags/tag31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312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313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</p:tagLst>
</file>

<file path=ppt/tags/tag31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315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31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31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18.xml><?xml version="1.0" encoding="utf-8"?>
<p:tagLst xmlns:p="http://schemas.openxmlformats.org/presentationml/2006/main">
  <p:tag name="KSO_WM_UNIT_TEXT" val="知识图谱：把知识点关系变成可探索的结构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1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20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21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322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2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2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325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2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</p:tagLst>
</file>

<file path=ppt/tags/tag328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</p:tagLst>
</file>

<file path=ppt/tags/tag329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</p:tagLst>
</file>

<file path=ppt/tags/tag330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331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</p:tagLst>
</file>

<file path=ppt/tags/tag332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</p:tagLst>
</file>

<file path=ppt/tags/tag333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</p:tagLst>
</file>

<file path=ppt/tags/tag334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335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</p:tagLst>
</file>

<file path=ppt/tags/tag336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</p:tagLst>
</file>

<file path=ppt/tags/tag337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</p:tagLst>
</file>

<file path=ppt/tags/tag338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33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4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341.xml><?xml version="1.0" encoding="utf-8"?>
<p:tagLst xmlns:p="http://schemas.openxmlformats.org/presentationml/2006/main">
  <p:tag name="KSO_WM_UNIT_TEXT" val="错题整理：记录错误原因，形成复习入口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4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4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4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4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47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3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49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50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</p:tagLst>
</file>

<file path=ppt/tags/tag351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35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353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</p:tagLst>
</file>

<file path=ppt/tags/tag354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355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356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</p:tagLst>
</file>

<file path=ppt/tags/tag357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358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359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</p:tagLst>
</file>

<file path=ppt/tags/tag360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361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362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63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364.xml><?xml version="1.0" encoding="utf-8"?>
<p:tagLst xmlns:p="http://schemas.openxmlformats.org/presentationml/2006/main">
  <p:tag name="KSO_WM_UNIT_TEXT" val="举一反三：一道错题，生成三道变式练习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6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66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67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6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6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70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37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7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73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37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7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76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77.xml><?xml version="1.0" encoding="utf-8"?>
<p:tagLst xmlns:p="http://schemas.openxmlformats.org/presentationml/2006/main">
  <p:tag name="KSO_WM_UNIT_TEXT" val="学习分析：把学习记录转化为下一步建议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7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79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80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381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8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83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384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86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38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8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89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9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91.xml><?xml version="1.0" encoding="utf-8"?>
<p:tagLst xmlns:p="http://schemas.openxmlformats.org/presentationml/2006/main">
  <p:tag name="KSO_WM_UNIT_TEXT" val="个性化学习计划：根据掌握情况安排任务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3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93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394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395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396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</p:tagLst>
</file>

<file path=ppt/tags/tag397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4*l_h_i*1_1_2"/>
  <p:tag name="KSO_WM_TEMPLATE_INDEX" val="19882022"/>
  <p:tag name="KSO_WM_TAG_VERSION" val="2.0"/>
  <p:tag name="KSO_WM_DIAGRAM_GROUP_CODE" val="l1-1"/>
</p:tagLst>
</file>

<file path=ppt/tags/tag398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399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4*l_h_f*1_1_2"/>
  <p:tag name="KSO_WM_TEMPLATE_INDEX" val="19882022"/>
  <p:tag name="KSO_WM_TAG_VERSION" val="2.0"/>
  <p:tag name="KSO_WM_DIAGRAM_GROUP_CODE" val="l1-1"/>
</p:tagLst>
</file>

<file path=ppt/tags/tag400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401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</p:tagLst>
</file>

<file path=ppt/tags/tag402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4*l_h_i*1_2_2"/>
  <p:tag name="KSO_WM_TEMPLATE_INDEX" val="19882022"/>
  <p:tag name="KSO_WM_TAG_VERSION" val="2.0"/>
  <p:tag name="KSO_WM_DIAGRAM_GROUP_CODE" val="l1-1"/>
</p:tagLst>
</file>

<file path=ppt/tags/tag403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404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</p:tagLst>
</file>

<file path=ppt/tags/tag405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406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</p:tagLst>
</file>

<file path=ppt/tags/tag407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4*l_h_i*1_3_2"/>
  <p:tag name="KSO_WM_TEMPLATE_INDEX" val="19882022"/>
  <p:tag name="KSO_WM_TAG_VERSION" val="2.0"/>
  <p:tag name="KSO_WM_DIAGRAM_GROUP_CODE" val="l1-1"/>
</p:tagLst>
</file>

<file path=ppt/tags/tag408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409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</p:tagLst>
</file>

<file path=ppt/tags/tag410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411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</p:tagLst>
</file>

<file path=ppt/tags/tag412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4*l_h_i*1_4_2"/>
  <p:tag name="KSO_WM_TEMPLATE_INDEX" val="19882022"/>
  <p:tag name="KSO_WM_TAG_VERSION" val="2.0"/>
  <p:tag name="KSO_WM_DIAGRAM_GROUP_CODE" val="l1-1"/>
</p:tagLst>
</file>

<file path=ppt/tags/tag413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414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4*l_h_f*1_4_2"/>
  <p:tag name="KSO_WM_TEMPLATE_INDEX" val="19882022"/>
  <p:tag name="KSO_WM_TAG_VERSION" val="2.0"/>
  <p:tag name="KSO_WM_DIAGRAM_GROUP_CODE" val="l1-1"/>
</p:tagLst>
</file>

<file path=ppt/tags/tag41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41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41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418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419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420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421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422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423.xml><?xml version="1.0" encoding="utf-8"?>
<p:tagLst xmlns:p="http://schemas.openxmlformats.org/presentationml/2006/main">
  <p:tag name="KSO_WM_UNIT_TEXT" val="课程内容维护：由管理员负责课程与题库更新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2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425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42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2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2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3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43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43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433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43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435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436.xml><?xml version="1.0" encoding="utf-8"?>
<p:tagLst xmlns:p="http://schemas.openxmlformats.org/presentationml/2006/main">
  <p:tag name="KSO_WM_UNIT_TEXT" val="核心功能 · 实时交互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3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625"/>
  <p:tag name="KSO_WM_TEMPLATE_CATEGORY" val="custom"/>
  <p:tag name="KSO_WM_SLIDE_INDEX" val="8"/>
  <p:tag name="KSO_WM_SLIDE_ID" val="custom20238625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商务风笔记本电脑职场办公">
  <a:themeElements>
    <a:clrScheme name="商务风笔记本电脑">
      <a:dk1>
        <a:srgbClr val="000000"/>
      </a:dk1>
      <a:lt1>
        <a:srgbClr val="FFFFFF"/>
      </a:lt1>
      <a:dk2>
        <a:srgbClr val="030545"/>
      </a:dk2>
      <a:lt2>
        <a:srgbClr val="FEF1DA"/>
      </a:lt2>
      <a:accent1>
        <a:srgbClr val="FD676B"/>
      </a:accent1>
      <a:accent2>
        <a:srgbClr val="A74EC6"/>
      </a:accent2>
      <a:accent3>
        <a:srgbClr val="E56866"/>
      </a:accent3>
      <a:accent4>
        <a:srgbClr val="EC00AC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WPS 演示</Application>
  <PresentationFormat>On-screen Show (16:9)</PresentationFormat>
  <Paragraphs>496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汉仪铸字美心体简</vt:lpstr>
      <vt:lpstr>Wingdings</vt:lpstr>
      <vt:lpstr>等线 Light</vt:lpstr>
      <vt:lpstr>汉仪典雅体简</vt:lpstr>
      <vt:lpstr>汉仪力量黑简</vt:lpstr>
      <vt:lpstr>华文琥珀</vt:lpstr>
      <vt:lpstr>华文隶书</vt:lpstr>
      <vt:lpstr>字魂刀锋黑</vt:lpstr>
      <vt:lpstr>幼圆</vt:lpstr>
      <vt:lpstr>微软雅黑 Light</vt:lpstr>
      <vt:lpstr>新宋体</vt:lpstr>
      <vt:lpstr>方正书宋简体</vt:lpstr>
      <vt:lpstr>方正公文小标宋</vt:lpstr>
      <vt:lpstr>Office Theme</vt:lpstr>
      <vt:lpstr>商务风笔记本电脑职场办公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creator>智学研途 StudyPath AI</dc:creator>
  <dc:subject>智慧教育作品汇报</dc:subject>
  <cp:lastModifiedBy>么么貌美如花花y^o^y</cp:lastModifiedBy>
  <cp:revision>17</cp:revision>
  <dcterms:created xsi:type="dcterms:W3CDTF">2026-10-23T15:15:00Z</dcterms:created>
  <dcterms:modified xsi:type="dcterms:W3CDTF">2026-10-23T15:52:01Z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4132024052BE40449B6F3DFF8FD9A74F_12</vt:lpwstr>
  </property>
</Properties>
</file>