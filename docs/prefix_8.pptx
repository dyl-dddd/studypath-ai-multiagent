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一条闭环：识别学情，持续改进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个人课程内容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449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 / 拓展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练习检测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掌握情况反馈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4E8FF"/>
          </a:solidFill>
          <a:ln w="8890">
            <a:solidFill>
              <a:srgbClr val="E5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983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3407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举一反三训练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画像计划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286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推荐课程与节奏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" y="4160520"/>
            <a:ext cx="102412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31596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 → 发现薄弱点 → 安排适合的课程与练习 → 用新的学习结果更新画像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03120" y="5596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让系统的每次推荐都能服务于下一步学习，而不只停留在一次问答。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01 · 智能问答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RAG：回答围绕用户自己的资料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6692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ea76d17f-427d-4470-87f8-b3eb6cd9f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81912"/>
            <a:ext cx="5449824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问答界面：资料库模式可查看回答引用的原文与页码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1600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1865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22592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71232" y="1719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1232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/ TXT / Markdown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20840" y="2743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31152" y="3008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71232" y="2862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解析与检索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71232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分块、向量化、召回并重排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3886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151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71232" y="4005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71232" y="4325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结合证据输出并标注来源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5230368"/>
            <a:ext cx="4800600" cy="576072"/>
          </a:xfrm>
          <a:prstGeom prst="roundRect">
            <a:avLst>
              <a:gd name="adj" fmla="val 19048"/>
            </a:avLst>
          </a:prstGeom>
          <a:solidFill>
            <a:srgbClr val="E7F7F3"/>
          </a:solidFill>
          <a:ln w="8890">
            <a:solidFill>
              <a:srgbClr val="E7F7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53675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7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另一模式：大模型问答，用于知识解释与拓展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02 · 重点展示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错题不止订正：继续训练知识迁移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644652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c41a5e28-ebf0-4d76-8792-d33363fa43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36192"/>
            <a:ext cx="6236208" cy="3621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3766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举一反三练习页：围绕同一知识点生成不同情境的题目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627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从一道错题，走完四步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2377440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错题归集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25712" y="2331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记录错题与所属课程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34656" y="2660904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6640" y="3163824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定位知识点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25712" y="3118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明确问题对应的概念或方法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34656" y="3447288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3950208"/>
            <a:ext cx="256032" cy="256032"/>
          </a:xfrm>
          <a:prstGeom prst="ellipse">
            <a:avLst/>
          </a:prstGeom>
          <a:solidFill>
            <a:srgbClr val="35B7A5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45552" y="3904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生成变式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25712" y="3904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改变情境与问法，保留考查目标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34656" y="4233672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4736592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4690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反馈巩固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25712" y="4690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完成练习，暴露仍需加强之处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60920" y="5559552"/>
            <a:ext cx="4160520" cy="438912"/>
          </a:xfrm>
          <a:prstGeom prst="roundRect">
            <a:avLst>
              <a:gd name="adj" fmla="val 22917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56509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重点：练新情境，检验是否真正掌握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03 · 个性化学习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× 用户画像：让学习建议有依据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知识图谱把“知识点之间的关系”可视化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-1097280" cy="36576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926080"/>
            <a:ext cx="731520" cy="41148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3749040"/>
            <a:ext cx="0" cy="82296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08960" y="2697480"/>
            <a:ext cx="1600200" cy="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3474720"/>
            <a:ext cx="640080" cy="68580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931920"/>
            <a:ext cx="548640" cy="64008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05940" y="1851660"/>
            <a:ext cx="868680" cy="868680"/>
          </a:xfrm>
          <a:prstGeom prst="ellipse">
            <a:avLst/>
          </a:prstGeom>
          <a:solidFill>
            <a:srgbClr val="7047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2516" y="2157984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731520" cy="731520"/>
          </a:xfrm>
          <a:prstGeom prst="ellipse">
            <a:avLst/>
          </a:prstGeom>
          <a:solidFill>
            <a:srgbClr val="35B7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209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971800"/>
            <a:ext cx="731520" cy="731520"/>
          </a:xfrm>
          <a:prstGeom prst="ellipse">
            <a:avLst/>
          </a:prstGeom>
          <a:solidFill>
            <a:srgbClr val="35B7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3209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83664" y="421538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443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虚拟内存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98264" y="220370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4323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98264" y="380390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032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页面置换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554480"/>
            <a:ext cx="544068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用户画像驱动个性化服务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55080" y="260604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715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学习记录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2715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进度、测验表现、错题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333756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3447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学情分析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26680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识别薄弱知识与待复习内容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406908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4178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4178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结合课程关系与掌握情况安排任务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480060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26680" y="4910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新练习结果反馈到后续建议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28232" y="5623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从“推荐内容”进一步走向“适合这个学生的学习路径”。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技术架构：前后端分离，RAG 服务可追溯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5146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2514600" cy="502920"/>
          </a:xfrm>
          <a:prstGeom prst="roundRect">
            <a:avLst>
              <a:gd name="adj" fmla="val 23636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75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2697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学习工作台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" y="3182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/ 问答 / 错题 / 图谱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852928"/>
            <a:ext cx="201168" cy="0"/>
          </a:xfrm>
          <a:prstGeom prst="line">
            <a:avLst/>
          </a:prstGeom>
          <a:noFill/>
          <a:ln w="2032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1874520"/>
            <a:ext cx="25146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74520"/>
            <a:ext cx="2514600" cy="502920"/>
          </a:xfrm>
          <a:prstGeom prst="roundRect">
            <a:avLst>
              <a:gd name="adj" fmla="val 23636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975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66744" y="2697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账号认证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66744" y="3182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资料解析与 SSE 流式接口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852928"/>
            <a:ext cx="201168" cy="0"/>
          </a:xfrm>
          <a:prstGeom prst="line">
            <a:avLst/>
          </a:prstGeom>
          <a:noFill/>
          <a:ln w="2032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1874520"/>
            <a:ext cx="25146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874520"/>
            <a:ext cx="2514600" cy="502920"/>
          </a:xfrm>
          <a:prstGeom prst="roundRect">
            <a:avLst>
              <a:gd name="adj" fmla="val 23636"/>
            </a:avLst>
          </a:prstGeom>
          <a:solidFill>
            <a:srgbClr val="9975E8"/>
          </a:solidFill>
          <a:ln w="8890">
            <a:solidFill>
              <a:srgbClr val="9975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75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01384" y="2697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FastEmbed 中文向量模型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1384" y="3182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 向量检索 + 重排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2852928"/>
            <a:ext cx="201168" cy="0"/>
          </a:xfrm>
          <a:prstGeom prst="line">
            <a:avLst/>
          </a:prstGeom>
          <a:noFill/>
          <a:ln w="2032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89720" y="1874520"/>
            <a:ext cx="23317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874520"/>
            <a:ext cx="2331720" cy="502920"/>
          </a:xfrm>
          <a:prstGeom prst="roundRect">
            <a:avLst>
              <a:gd name="adj" fmla="val 23636"/>
            </a:avLst>
          </a:prstGeom>
          <a:solidFill>
            <a:srgbClr val="E29B38"/>
          </a:solidFill>
          <a:ln w="8890">
            <a:solidFill>
              <a:srgbClr val="E29B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975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36024" y="269748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兼容大模型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36024" y="318211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引用清理与错误处理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370832"/>
            <a:ext cx="10835640" cy="1005840"/>
          </a:xfrm>
          <a:prstGeom prst="roundRect">
            <a:avLst>
              <a:gd name="adj" fmla="val 14545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608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57400" y="456285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资料按账号隔离 · 检索结果支持来源核对 · SSE 实时输出 · 无证据时明确提示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574243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当前项目以 Qdrant + FastEmbed 实现向量检索；大模型服务通过后端配置接入。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645920"/>
            <a:ext cx="5669280" cy="5669280"/>
          </a:xfrm>
          <a:prstGeom prst="ellipse">
            <a:avLst/>
          </a:prstGeom>
          <a:solidFill>
            <a:srgbClr val="5637A6">
              <a:alpha val="75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77240"/>
            <a:ext cx="1051560" cy="310896"/>
          </a:xfrm>
          <a:prstGeom prst="roundRect">
            <a:avLst>
              <a:gd name="adj" fmla="val 29412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95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作品价值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让学习支持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真正贴近每一位学生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33101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资料有依据 · 错题能迁移 · 知识可关联 · 计划更适配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4251960"/>
            <a:ext cx="2148840" cy="868680"/>
          </a:xfrm>
          <a:prstGeom prst="roundRect">
            <a:avLst>
              <a:gd name="adj" fmla="val 14737"/>
            </a:avLst>
          </a:prstGeom>
          <a:solidFill>
            <a:srgbClr val="34255F"/>
          </a:solidFill>
          <a:ln w="8890">
            <a:solidFill>
              <a:srgbClr val="6E5B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43799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可核对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4700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1C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回答可回看资料来源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55264" y="4251960"/>
            <a:ext cx="2148840" cy="868680"/>
          </a:xfrm>
          <a:prstGeom prst="roundRect">
            <a:avLst>
              <a:gd name="adj" fmla="val 14737"/>
            </a:avLst>
          </a:prstGeom>
          <a:solidFill>
            <a:srgbClr val="34255F"/>
          </a:solidFill>
          <a:ln w="8890">
            <a:solidFill>
              <a:srgbClr val="6E5B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43799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可练习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6704" y="4700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1C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错题转化为变式训练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42432" y="4251960"/>
            <a:ext cx="2148840" cy="868680"/>
          </a:xfrm>
          <a:prstGeom prst="roundRect">
            <a:avLst>
              <a:gd name="adj" fmla="val 14737"/>
            </a:avLst>
          </a:prstGeom>
          <a:solidFill>
            <a:srgbClr val="34255F"/>
          </a:solidFill>
          <a:ln w="8890">
            <a:solidFill>
              <a:srgbClr val="6E5B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43799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33872" y="4700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1C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学习画像持续反馈计划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" y="6190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· StudyPath 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2026-10-23T14:31:01Z</dcterms:created>
  <dcterms:modified xsi:type="dcterms:W3CDTF">2026-10-23T14:31:01Z</dcterms:modified>
</cp:coreProperties>
</file>