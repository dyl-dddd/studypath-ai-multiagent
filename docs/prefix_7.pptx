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7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188720"/>
            <a:ext cx="5669280" cy="5669280"/>
          </a:xfrm>
          <a:prstGeom prst="ellipse">
            <a:avLst/>
          </a:prstGeom>
          <a:solidFill>
            <a:srgbClr val="5637A6">
              <a:alpha val="78000"/>
            </a:srgbClr>
          </a:solidFill>
          <a:ln w="12700">
            <a:solidFill>
              <a:srgbClr val="2417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3108960"/>
            <a:ext cx="4389120" cy="4389120"/>
          </a:xfrm>
          <a:prstGeom prst="ellipse">
            <a:avLst/>
          </a:prstGeom>
          <a:solidFill>
            <a:srgbClr val="3AAFA0">
              <a:alpha val="30000"/>
            </a:srgbClr>
          </a:solidFill>
          <a:ln w="12700">
            <a:solidFill>
              <a:srgbClr val="24174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777240"/>
            <a:ext cx="1737360" cy="310896"/>
          </a:xfrm>
          <a:prstGeom prst="roundRect">
            <a:avLst>
              <a:gd name="adj" fmla="val 29412"/>
            </a:avLst>
          </a:prstGeom>
          <a:solidFill>
            <a:srgbClr val="7047E8"/>
          </a:solidFill>
          <a:ln w="889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7955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智慧教育与科普创作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智学研途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49808" y="2395728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D9C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个性化学习平台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768096" y="3163824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4DF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让每一次提问都能回到资料，让每一道错题都成为进步的起点。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8096" y="4160520"/>
            <a:ext cx="1417320" cy="384048"/>
          </a:xfrm>
          <a:prstGeom prst="roundRect">
            <a:avLst>
              <a:gd name="adj" fmla="val 23810"/>
            </a:avLst>
          </a:prstGeom>
          <a:solidFill>
            <a:srgbClr val="34255F"/>
          </a:solidFill>
          <a:ln w="10160">
            <a:solidFill>
              <a:srgbClr val="8271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4187952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RAG资料问答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31720" y="4160520"/>
            <a:ext cx="1600200" cy="384048"/>
          </a:xfrm>
          <a:prstGeom prst="roundRect">
            <a:avLst>
              <a:gd name="adj" fmla="val 23810"/>
            </a:avLst>
          </a:prstGeom>
          <a:solidFill>
            <a:srgbClr val="34255F"/>
          </a:solidFill>
          <a:ln w="10160">
            <a:solidFill>
              <a:srgbClr val="8271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04872" y="4187952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错题举一反三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096512" y="4160520"/>
            <a:ext cx="1188720" cy="384048"/>
          </a:xfrm>
          <a:prstGeom prst="roundRect">
            <a:avLst>
              <a:gd name="adj" fmla="val 23810"/>
            </a:avLst>
          </a:prstGeom>
          <a:solidFill>
            <a:srgbClr val="34255F"/>
          </a:solidFill>
          <a:ln w="10160">
            <a:solidFill>
              <a:srgbClr val="8271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69664" y="4187952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31536" y="4160520"/>
            <a:ext cx="1737360" cy="384048"/>
          </a:xfrm>
          <a:prstGeom prst="roundRect">
            <a:avLst>
              <a:gd name="adj" fmla="val 23810"/>
            </a:avLst>
          </a:prstGeom>
          <a:solidFill>
            <a:srgbClr val="34255F"/>
          </a:solidFill>
          <a:ln w="10160">
            <a:solidFill>
              <a:srgbClr val="8271B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04688" y="4187952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用户画像与计划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646920" y="1965960"/>
            <a:ext cx="868680" cy="868680"/>
          </a:xfrm>
          <a:prstGeom prst="ellipse">
            <a:avLst/>
          </a:prstGeom>
          <a:solidFill>
            <a:srgbClr val="7047E8">
              <a:alpha val="92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46920" y="2261311"/>
            <a:ext cx="8686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744200" y="2743200"/>
            <a:ext cx="658368" cy="658368"/>
          </a:xfrm>
          <a:prstGeom prst="ellipse">
            <a:avLst/>
          </a:prstGeom>
          <a:solidFill>
            <a:srgbClr val="7047E8">
              <a:alpha val="92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744200" y="2967045"/>
            <a:ext cx="658368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555480" y="3657600"/>
            <a:ext cx="749808" cy="749808"/>
          </a:xfrm>
          <a:prstGeom prst="ellipse">
            <a:avLst/>
          </a:prstGeom>
          <a:solidFill>
            <a:srgbClr val="35B7A5">
              <a:alpha val="92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55480" y="3912535"/>
            <a:ext cx="749808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549640" y="2834640"/>
            <a:ext cx="658368" cy="658368"/>
          </a:xfrm>
          <a:prstGeom prst="ellipse">
            <a:avLst/>
          </a:prstGeom>
          <a:solidFill>
            <a:srgbClr val="7047E8">
              <a:alpha val="92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49640" y="3058485"/>
            <a:ext cx="658368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画像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469880" y="4572000"/>
            <a:ext cx="713232" cy="713232"/>
          </a:xfrm>
          <a:prstGeom prst="ellipse">
            <a:avLst/>
          </a:prstGeom>
          <a:solidFill>
            <a:srgbClr val="7047E8">
              <a:alpha val="92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69880" y="4814499"/>
            <a:ext cx="71323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0287000" y="2560320"/>
            <a:ext cx="484632" cy="292608"/>
          </a:xfrm>
          <a:prstGeom prst="line">
            <a:avLst/>
          </a:prstGeom>
          <a:noFill/>
          <a:ln w="17780">
            <a:solidFill>
              <a:srgbClr val="A99ADC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881360" y="3383280"/>
            <a:ext cx="-685800" cy="411480"/>
          </a:xfrm>
          <a:prstGeom prst="line">
            <a:avLst/>
          </a:prstGeom>
          <a:noFill/>
          <a:ln w="17780">
            <a:solidFill>
              <a:srgbClr val="A99ADC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692640" y="3749040"/>
            <a:ext cx="-457200" cy="-502920"/>
          </a:xfrm>
          <a:prstGeom prst="line">
            <a:avLst/>
          </a:prstGeom>
          <a:noFill/>
          <a:ln w="17780">
            <a:solidFill>
              <a:srgbClr val="A99ADC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287000" y="4389120"/>
            <a:ext cx="365760" cy="201168"/>
          </a:xfrm>
          <a:prstGeom prst="line">
            <a:avLst/>
          </a:prstGeom>
          <a:noFill/>
          <a:ln w="17780">
            <a:solidFill>
              <a:srgbClr val="A99ADC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768096" y="61539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B6A9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作品汇报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966960" y="615391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D4C9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StudyPath AI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737360"/>
            <a:ext cx="4023360" cy="4023360"/>
          </a:xfrm>
          <a:prstGeom prst="ellipse">
            <a:avLst/>
          </a:prstGeom>
          <a:solidFill>
            <a:srgbClr val="EEE8FF">
              <a:alpha val="75000"/>
            </a:srgbClr>
          </a:solidFill>
          <a:ln w="12700">
            <a:solidFill>
              <a:srgbClr val="F7F5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65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704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学习痛点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从“能回答”走向“会学习”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42823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智学研途  ·  STUDYPATH AI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21792" y="135331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学习工具很多，但学生仍常遇到四个断点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5074920" cy="1298448"/>
          </a:xfrm>
          <a:prstGeom prst="roundRect">
            <a:avLst>
              <a:gd name="adj" fmla="val 9155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2057400"/>
            <a:ext cx="292608" cy="292608"/>
          </a:xfrm>
          <a:prstGeom prst="ellipse">
            <a:avLst/>
          </a:prstGeom>
          <a:solidFill>
            <a:srgbClr val="7047E8"/>
          </a:solidFill>
          <a:ln w="1270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61872" y="2039112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资料难找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59536" y="2496312"/>
            <a:ext cx="4636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课程文件分散，定位知识点耗时。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874520"/>
            <a:ext cx="5074920" cy="1298448"/>
          </a:xfrm>
          <a:prstGeom prst="roundRect">
            <a:avLst>
              <a:gd name="adj" fmla="val 9155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27648" y="2057400"/>
            <a:ext cx="292608" cy="292608"/>
          </a:xfrm>
          <a:prstGeom prst="ellipse">
            <a:avLst/>
          </a:prstGeom>
          <a:solidFill>
            <a:srgbClr val="35B7A5"/>
          </a:solidFill>
          <a:ln w="12700">
            <a:solidFill>
              <a:srgbClr val="35B7A5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48272" y="2039112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答案难核对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45936" y="2496312"/>
            <a:ext cx="4636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通用回答不一定贴合课程资料，来源不清晰。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474720"/>
            <a:ext cx="5074920" cy="1298448"/>
          </a:xfrm>
          <a:prstGeom prst="roundRect">
            <a:avLst>
              <a:gd name="adj" fmla="val 9155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3657600"/>
            <a:ext cx="292608" cy="292608"/>
          </a:xfrm>
          <a:prstGeom prst="ellipse">
            <a:avLst/>
          </a:prstGeom>
          <a:solidFill>
            <a:srgbClr val="FFB84D"/>
          </a:solidFill>
          <a:ln w="12700">
            <a:solidFill>
              <a:srgbClr val="FFB8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61872" y="3639312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错题被搁置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59536" y="4096512"/>
            <a:ext cx="4636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做完只看对错，缺少变式练习检验迁移。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3474720"/>
            <a:ext cx="5074920" cy="1298448"/>
          </a:xfrm>
          <a:prstGeom prst="roundRect">
            <a:avLst>
              <a:gd name="adj" fmla="val 9155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27648" y="3657600"/>
            <a:ext cx="292608" cy="292608"/>
          </a:xfrm>
          <a:prstGeom prst="ellipse">
            <a:avLst/>
          </a:prstGeom>
          <a:solidFill>
            <a:srgbClr val="9071D6"/>
          </a:solidFill>
          <a:ln w="12700">
            <a:solidFill>
              <a:srgbClr val="9071D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48272" y="3639312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计划不适配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345936" y="4096512"/>
            <a:ext cx="4636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学习进度与薄弱点不同，统一安排不够精准。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5257800"/>
            <a:ext cx="10927080" cy="713232"/>
          </a:xfrm>
          <a:prstGeom prst="roundRect">
            <a:avLst>
              <a:gd name="adj" fmla="val 20513"/>
            </a:avLst>
          </a:prstGeom>
          <a:solidFill>
            <a:srgbClr val="F1ECFF"/>
          </a:solidFill>
          <a:ln w="8890">
            <a:solidFill>
              <a:srgbClr val="F1EC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112" y="54315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04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作品目标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828800" y="5404104"/>
            <a:ext cx="9235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把资料、答疑、错题、知识结构与个人学习计划连成一个持续改进的学习过程。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737360"/>
            <a:ext cx="4023360" cy="4023360"/>
          </a:xfrm>
          <a:prstGeom prst="ellipse">
            <a:avLst/>
          </a:prstGeom>
          <a:solidFill>
            <a:srgbClr val="EEE8FF">
              <a:alpha val="75000"/>
            </a:srgbClr>
          </a:solidFill>
          <a:ln w="12700">
            <a:solidFill>
              <a:srgbClr val="F7F5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65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704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产品方案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一条闭环：识别学情，持续改进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42823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智学研途  ·  STUDYPATH AI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85800" y="2240280"/>
            <a:ext cx="1874520" cy="1143000"/>
          </a:xfrm>
          <a:prstGeom prst="roundRect">
            <a:avLst>
              <a:gd name="adj" fmla="val 14400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395728"/>
            <a:ext cx="320040" cy="320040"/>
          </a:xfrm>
          <a:prstGeom prst="ellipse">
            <a:avLst/>
          </a:prstGeom>
          <a:solidFill>
            <a:srgbClr val="7047E8"/>
          </a:solidFill>
          <a:ln w="1270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4414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16152" y="237744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上传资料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50392" y="28620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个人课程内容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87752" y="2798064"/>
            <a:ext cx="182880" cy="0"/>
          </a:xfrm>
          <a:prstGeom prst="line">
            <a:avLst/>
          </a:prstGeom>
          <a:noFill/>
          <a:ln w="22860">
            <a:solidFill>
              <a:srgbClr val="B9A7E9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880360" y="2240280"/>
            <a:ext cx="1874520" cy="1143000"/>
          </a:xfrm>
          <a:prstGeom prst="roundRect">
            <a:avLst>
              <a:gd name="adj" fmla="val 14400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17520" y="2395728"/>
            <a:ext cx="320040" cy="320040"/>
          </a:xfrm>
          <a:prstGeom prst="ellipse">
            <a:avLst/>
          </a:prstGeom>
          <a:solidFill>
            <a:srgbClr val="7047E8"/>
          </a:solidFill>
          <a:ln w="1270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24414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10712" y="237744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检索问答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044952" y="28620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资料依据 / 拓展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82312" y="2798064"/>
            <a:ext cx="182880" cy="0"/>
          </a:xfrm>
          <a:prstGeom prst="line">
            <a:avLst/>
          </a:prstGeom>
          <a:noFill/>
          <a:ln w="22860">
            <a:solidFill>
              <a:srgbClr val="B9A7E9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074920" y="2240280"/>
            <a:ext cx="1874520" cy="1143000"/>
          </a:xfrm>
          <a:prstGeom prst="roundRect">
            <a:avLst>
              <a:gd name="adj" fmla="val 14400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12080" y="2395728"/>
            <a:ext cx="320040" cy="320040"/>
          </a:xfrm>
          <a:prstGeom prst="ellipse">
            <a:avLst/>
          </a:prstGeom>
          <a:solidFill>
            <a:srgbClr val="7047E8"/>
          </a:solidFill>
          <a:ln w="1270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0" y="24414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05272" y="237744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练习检测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39512" y="28620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掌握情况反馈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76872" y="2798064"/>
            <a:ext cx="182880" cy="0"/>
          </a:xfrm>
          <a:prstGeom prst="line">
            <a:avLst/>
          </a:prstGeom>
          <a:noFill/>
          <a:ln w="22860">
            <a:solidFill>
              <a:srgbClr val="B9A7E9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269480" y="2240280"/>
            <a:ext cx="1874520" cy="1143000"/>
          </a:xfrm>
          <a:prstGeom prst="roundRect">
            <a:avLst>
              <a:gd name="adj" fmla="val 14400"/>
            </a:avLst>
          </a:prstGeom>
          <a:solidFill>
            <a:srgbClr val="F4E8FF"/>
          </a:solidFill>
          <a:ln w="8890">
            <a:solidFill>
              <a:srgbClr val="E5D4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06640" y="2395728"/>
            <a:ext cx="320040" cy="320040"/>
          </a:xfrm>
          <a:prstGeom prst="ellipse">
            <a:avLst/>
          </a:prstGeom>
          <a:solidFill>
            <a:srgbClr val="7047E8"/>
          </a:solidFill>
          <a:ln w="1270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06640" y="24414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99832" y="237744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错题变式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434072" y="28620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举一反三训练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171432" y="2798064"/>
            <a:ext cx="182880" cy="0"/>
          </a:xfrm>
          <a:prstGeom prst="line">
            <a:avLst/>
          </a:prstGeom>
          <a:noFill/>
          <a:ln w="22860">
            <a:solidFill>
              <a:srgbClr val="B9A7E9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464040" y="2240280"/>
            <a:ext cx="1874520" cy="1143000"/>
          </a:xfrm>
          <a:prstGeom prst="roundRect">
            <a:avLst>
              <a:gd name="adj" fmla="val 14400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01200" y="2395728"/>
            <a:ext cx="320040" cy="320040"/>
          </a:xfrm>
          <a:prstGeom prst="ellipse">
            <a:avLst/>
          </a:prstGeom>
          <a:solidFill>
            <a:srgbClr val="7047E8"/>
          </a:solidFill>
          <a:ln w="1270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24414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994392" y="237744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画像计划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628632" y="28620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推荐课程与节奏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60120" y="4160520"/>
            <a:ext cx="10241280" cy="960120"/>
          </a:xfrm>
          <a:prstGeom prst="roundRect">
            <a:avLst>
              <a:gd name="adj" fmla="val 15238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34440" y="43708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04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核心逻辑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514600" y="4315968"/>
            <a:ext cx="8321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学习数据 → 发现薄弱点 → 安排适合的课程与练习 → 用新的学习结果更新画像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2103120" y="55961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让系统的每次推荐都能服务于下一步学习，而不只停留在一次问答。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737360"/>
            <a:ext cx="4023360" cy="4023360"/>
          </a:xfrm>
          <a:prstGeom prst="ellipse">
            <a:avLst/>
          </a:prstGeom>
          <a:solidFill>
            <a:srgbClr val="EEE8FF">
              <a:alpha val="75000"/>
            </a:srgbClr>
          </a:solidFill>
          <a:ln w="12700">
            <a:solidFill>
              <a:srgbClr val="F7F5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65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704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 01 · 智能问答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RAG：回答围绕用户自己的资料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42823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智学研途  ·  STUDYPATH AI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5669280" cy="4343400"/>
          </a:xfrm>
          <a:prstGeom prst="roundRect">
            <a:avLst>
              <a:gd name="adj" fmla="val 3368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pic>
        <p:nvPicPr>
          <p:cNvPr id="8" name="Image 0" descr="D:/Personal/Temp/codex-clipboard-ea76d17f-427d-4470-87f8-b3eb6cd9fd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581912"/>
            <a:ext cx="5449824" cy="31729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49651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问答界面：资料库模式可查看回答引用的原文与页码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720840" y="1600200"/>
            <a:ext cx="4800600" cy="859536"/>
          </a:xfrm>
          <a:prstGeom prst="roundRect">
            <a:avLst>
              <a:gd name="adj" fmla="val 14894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931152" y="1865376"/>
            <a:ext cx="438912" cy="310896"/>
          </a:xfrm>
          <a:prstGeom prst="roundRect">
            <a:avLst>
              <a:gd name="adj" fmla="val 29412"/>
            </a:avLst>
          </a:prstGeom>
          <a:solidFill>
            <a:srgbClr val="7047E8"/>
          </a:solidFill>
          <a:ln w="889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022592" y="1883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571232" y="1719072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用户上传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571232" y="20391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/ DOCX / TXT / Markdown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720840" y="2743200"/>
            <a:ext cx="4800600" cy="859536"/>
          </a:xfrm>
          <a:prstGeom prst="roundRect">
            <a:avLst>
              <a:gd name="adj" fmla="val 14894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931152" y="3008376"/>
            <a:ext cx="438912" cy="310896"/>
          </a:xfrm>
          <a:prstGeom prst="roundRect">
            <a:avLst>
              <a:gd name="adj" fmla="val 29412"/>
            </a:avLst>
          </a:prstGeom>
          <a:solidFill>
            <a:srgbClr val="35B7A5"/>
          </a:solidFill>
          <a:ln w="8890">
            <a:solidFill>
              <a:srgbClr val="35B7A5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022592" y="3026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571232" y="2862072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解析与检索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571232" y="31821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分块、向量化、召回并重排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720840" y="3886200"/>
            <a:ext cx="4800600" cy="859536"/>
          </a:xfrm>
          <a:prstGeom prst="roundRect">
            <a:avLst>
              <a:gd name="adj" fmla="val 14894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931152" y="4151376"/>
            <a:ext cx="438912" cy="310896"/>
          </a:xfrm>
          <a:prstGeom prst="roundRect">
            <a:avLst>
              <a:gd name="adj" fmla="val 29412"/>
            </a:avLst>
          </a:prstGeom>
          <a:solidFill>
            <a:srgbClr val="7047E8"/>
          </a:solidFill>
          <a:ln w="889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022592" y="4169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571232" y="4005072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生成回答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571232" y="43251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结合证据输出并标注来源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720840" y="5230368"/>
            <a:ext cx="4800600" cy="576072"/>
          </a:xfrm>
          <a:prstGeom prst="roundRect">
            <a:avLst>
              <a:gd name="adj" fmla="val 19048"/>
            </a:avLst>
          </a:prstGeom>
          <a:solidFill>
            <a:srgbClr val="E7F7F3"/>
          </a:solidFill>
          <a:ln w="8890">
            <a:solidFill>
              <a:srgbClr val="E7F7F3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931152" y="5367528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877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另一模式：大模型问答，用于知识解释与拓展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737360"/>
            <a:ext cx="4023360" cy="4023360"/>
          </a:xfrm>
          <a:prstGeom prst="ellipse">
            <a:avLst/>
          </a:prstGeom>
          <a:solidFill>
            <a:srgbClr val="EEE8FF">
              <a:alpha val="75000"/>
            </a:srgbClr>
          </a:solidFill>
          <a:ln w="12700">
            <a:solidFill>
              <a:srgbClr val="F7F5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65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704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 02 · 重点展示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错题不止订正：继续训练知识迁移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42823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智学研途  ·  STUDYPATH AI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94360" y="1417320"/>
            <a:ext cx="6446520" cy="4526280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pic>
        <p:nvPicPr>
          <p:cNvPr id="8" name="Image 0" descr="D:/Personal/Temp/codex-clipboard-c41a5e28-ebf0-4d76-8792-d33363fa43d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536192"/>
            <a:ext cx="6236208" cy="36210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5376672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举一反三练习页：围绕同一知识点生成不同情境的题目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360920" y="162763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从一道错题，走完四步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7406640" y="2377440"/>
            <a:ext cx="256032" cy="256032"/>
          </a:xfrm>
          <a:prstGeom prst="ellipse">
            <a:avLst/>
          </a:prstGeom>
          <a:solidFill>
            <a:srgbClr val="7047E8"/>
          </a:solidFill>
          <a:ln w="1270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45552" y="2331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错题归集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125712" y="23317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记录错题与所属课程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534656" y="2660904"/>
            <a:ext cx="0" cy="356616"/>
          </a:xfrm>
          <a:prstGeom prst="line">
            <a:avLst/>
          </a:prstGeom>
          <a:noFill/>
          <a:ln w="15240">
            <a:solidFill>
              <a:srgbClr val="CFC4E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06640" y="3163824"/>
            <a:ext cx="256032" cy="256032"/>
          </a:xfrm>
          <a:prstGeom prst="ellipse">
            <a:avLst/>
          </a:prstGeom>
          <a:solidFill>
            <a:srgbClr val="7047E8"/>
          </a:solidFill>
          <a:ln w="1270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45552" y="311810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定位知识点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125712" y="311810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明确问题对应的概念或方法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534656" y="3447288"/>
            <a:ext cx="0" cy="356616"/>
          </a:xfrm>
          <a:prstGeom prst="line">
            <a:avLst/>
          </a:prstGeom>
          <a:noFill/>
          <a:ln w="15240">
            <a:solidFill>
              <a:srgbClr val="CFC4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406640" y="3950208"/>
            <a:ext cx="256032" cy="256032"/>
          </a:xfrm>
          <a:prstGeom prst="ellipse">
            <a:avLst/>
          </a:prstGeom>
          <a:solidFill>
            <a:srgbClr val="35B7A5"/>
          </a:solidFill>
          <a:ln w="1270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845552" y="39044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生成变式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125712" y="390448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改变情境与问法，保留考查目标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534656" y="4233672"/>
            <a:ext cx="0" cy="356616"/>
          </a:xfrm>
          <a:prstGeom prst="line">
            <a:avLst/>
          </a:prstGeom>
          <a:noFill/>
          <a:ln w="15240">
            <a:solidFill>
              <a:srgbClr val="CFC4E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406640" y="4736592"/>
            <a:ext cx="256032" cy="256032"/>
          </a:xfrm>
          <a:prstGeom prst="ellipse">
            <a:avLst/>
          </a:prstGeom>
          <a:solidFill>
            <a:srgbClr val="7047E8"/>
          </a:solidFill>
          <a:ln w="1270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845552" y="46908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反馈巩固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9125712" y="469087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完成练习，暴露仍需加强之处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360920" y="5559552"/>
            <a:ext cx="4160520" cy="438912"/>
          </a:xfrm>
          <a:prstGeom prst="roundRect">
            <a:avLst>
              <a:gd name="adj" fmla="val 22917"/>
            </a:avLst>
          </a:prstGeom>
          <a:solidFill>
            <a:srgbClr val="F1ECFF"/>
          </a:solidFill>
          <a:ln w="8890">
            <a:solidFill>
              <a:srgbClr val="F1ECFF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498080" y="5650992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04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重点：练新情境，检验是否真正掌握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737360"/>
            <a:ext cx="4023360" cy="4023360"/>
          </a:xfrm>
          <a:prstGeom prst="ellipse">
            <a:avLst/>
          </a:prstGeom>
          <a:solidFill>
            <a:srgbClr val="EEE8FF">
              <a:alpha val="75000"/>
            </a:srgbClr>
          </a:solidFill>
          <a:ln w="12700">
            <a:solidFill>
              <a:srgbClr val="F7F5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65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704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 03 · 个性化学习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 × 用户画像：让学习建议有依据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42823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智学研途  ·  STUDYPATH AI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13716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知识图谱把“知识点之间的关系”可视化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651760" y="2971800"/>
            <a:ext cx="-1097280" cy="365760"/>
          </a:xfrm>
          <a:prstGeom prst="line">
            <a:avLst/>
          </a:prstGeom>
          <a:noFill/>
          <a:ln w="16510">
            <a:solidFill>
              <a:srgbClr val="CFC5E8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971800" y="2926080"/>
            <a:ext cx="731520" cy="411480"/>
          </a:xfrm>
          <a:prstGeom prst="line">
            <a:avLst/>
          </a:prstGeom>
          <a:noFill/>
          <a:ln w="16510">
            <a:solidFill>
              <a:srgbClr val="CFC5E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514600" y="3749040"/>
            <a:ext cx="0" cy="822960"/>
          </a:xfrm>
          <a:prstGeom prst="line">
            <a:avLst/>
          </a:prstGeom>
          <a:noFill/>
          <a:ln w="16510">
            <a:solidFill>
              <a:srgbClr val="CFC5E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108960" y="2697480"/>
            <a:ext cx="1600200" cy="0"/>
          </a:xfrm>
          <a:prstGeom prst="line">
            <a:avLst/>
          </a:prstGeom>
          <a:noFill/>
          <a:ln w="16510">
            <a:solidFill>
              <a:srgbClr val="CFC5E8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069080" y="3474720"/>
            <a:ext cx="640080" cy="685800"/>
          </a:xfrm>
          <a:prstGeom prst="line">
            <a:avLst/>
          </a:prstGeom>
          <a:noFill/>
          <a:ln w="16510">
            <a:solidFill>
              <a:srgbClr val="CFC5E8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828800" y="3931920"/>
            <a:ext cx="548640" cy="640080"/>
          </a:xfrm>
          <a:prstGeom prst="line">
            <a:avLst/>
          </a:prstGeom>
          <a:noFill/>
          <a:ln w="16510">
            <a:solidFill>
              <a:srgbClr val="CFC5E8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805940" y="1851660"/>
            <a:ext cx="868680" cy="868680"/>
          </a:xfrm>
          <a:prstGeom prst="ellipse">
            <a:avLst/>
          </a:prstGeom>
          <a:solidFill>
            <a:srgbClr val="7047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42516" y="2157984"/>
            <a:ext cx="795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操作系统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2971800"/>
            <a:ext cx="731520" cy="731520"/>
          </a:xfrm>
          <a:prstGeom prst="ellipse">
            <a:avLst/>
          </a:prstGeom>
          <a:solidFill>
            <a:srgbClr val="35B7A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" y="320954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进程管理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108960" y="2971800"/>
            <a:ext cx="731520" cy="731520"/>
          </a:xfrm>
          <a:prstGeom prst="ellipse">
            <a:avLst/>
          </a:prstGeom>
          <a:solidFill>
            <a:srgbClr val="35B7A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45536" y="320954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内存管理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883664" y="4215384"/>
            <a:ext cx="713232" cy="713232"/>
          </a:xfrm>
          <a:prstGeom prst="ellipse">
            <a:avLst/>
          </a:prstGeom>
          <a:solidFill>
            <a:srgbClr val="9274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20240" y="444398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虚拟内存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98264" y="2203704"/>
            <a:ext cx="713232" cy="713232"/>
          </a:xfrm>
          <a:prstGeom prst="ellipse">
            <a:avLst/>
          </a:prstGeom>
          <a:solidFill>
            <a:srgbClr val="9274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34840" y="24323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文件系统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98264" y="3803904"/>
            <a:ext cx="713232" cy="713232"/>
          </a:xfrm>
          <a:prstGeom prst="ellipse">
            <a:avLst/>
          </a:prstGeom>
          <a:solidFill>
            <a:srgbClr val="9274E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34840" y="40325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页面置换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35040" y="1554480"/>
            <a:ext cx="5440680" cy="4526280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1828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用户画像驱动个性化服务</a:t>
            </a:r>
            <a:endParaRPr lang="en-US" sz="1900" dirty="0"/>
          </a:p>
        </p:txBody>
      </p:sp>
      <p:sp>
        <p:nvSpPr>
          <p:cNvPr id="28" name="Shape 26"/>
          <p:cNvSpPr/>
          <p:nvPr/>
        </p:nvSpPr>
        <p:spPr>
          <a:xfrm>
            <a:off x="6355080" y="2606040"/>
            <a:ext cx="4709160" cy="539496"/>
          </a:xfrm>
          <a:prstGeom prst="roundRect">
            <a:avLst>
              <a:gd name="adj" fmla="val 18644"/>
            </a:avLst>
          </a:prstGeom>
          <a:solidFill>
            <a:srgbClr val="F7F5FC"/>
          </a:solidFill>
          <a:ln w="8890">
            <a:solidFill>
              <a:srgbClr val="F7F5FC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47104" y="271576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04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学习记录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726680" y="271576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02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进度、测验表现、错题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55080" y="3337560"/>
            <a:ext cx="4709160" cy="539496"/>
          </a:xfrm>
          <a:prstGeom prst="roundRect">
            <a:avLst>
              <a:gd name="adj" fmla="val 18644"/>
            </a:avLst>
          </a:prstGeom>
          <a:solidFill>
            <a:srgbClr val="F7F5FC"/>
          </a:solidFill>
          <a:ln w="8890">
            <a:solidFill>
              <a:srgbClr val="F7F5FC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47104" y="344728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04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学情分析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726680" y="344728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02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识别薄弱知识与待复习内容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55080" y="4069080"/>
            <a:ext cx="4709160" cy="539496"/>
          </a:xfrm>
          <a:prstGeom prst="roundRect">
            <a:avLst>
              <a:gd name="adj" fmla="val 18644"/>
            </a:avLst>
          </a:prstGeom>
          <a:solidFill>
            <a:srgbClr val="F1ECFF"/>
          </a:solidFill>
          <a:ln w="8890">
            <a:solidFill>
              <a:srgbClr val="F1EC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47104" y="417880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04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学习计划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726680" y="41788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02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结合课程关系与掌握情况安排任务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55080" y="4800600"/>
            <a:ext cx="4709160" cy="539496"/>
          </a:xfrm>
          <a:prstGeom prst="roundRect">
            <a:avLst>
              <a:gd name="adj" fmla="val 18644"/>
            </a:avLst>
          </a:prstGeom>
          <a:solidFill>
            <a:srgbClr val="F7F5FC"/>
          </a:solidFill>
          <a:ln w="8890">
            <a:solidFill>
              <a:srgbClr val="F7F5FC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47104" y="491032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04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持续更新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726680" y="491032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02A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新练习结果反馈到后续建议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28232" y="56235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从“推荐内容”进一步走向“适合这个学生的学习路径”。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737360"/>
            <a:ext cx="4023360" cy="4023360"/>
          </a:xfrm>
          <a:prstGeom prst="ellipse">
            <a:avLst/>
          </a:prstGeom>
          <a:solidFill>
            <a:srgbClr val="EEE8FF">
              <a:alpha val="75000"/>
            </a:srgbClr>
          </a:solidFill>
          <a:ln w="12700">
            <a:solidFill>
              <a:srgbClr val="F7F5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65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704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技术实现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技术架构：前后端分离，RAG 服务可追溯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42823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智学研途  ·  STUDYPATH AI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85800" y="1874520"/>
            <a:ext cx="2514600" cy="1965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874520"/>
            <a:ext cx="2514600" cy="502920"/>
          </a:xfrm>
          <a:prstGeom prst="roundRect">
            <a:avLst>
              <a:gd name="adj" fmla="val 23636"/>
            </a:avLst>
          </a:prstGeom>
          <a:solidFill>
            <a:srgbClr val="7047E8"/>
          </a:solidFill>
          <a:ln w="889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7510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32104" y="2697480"/>
            <a:ext cx="2221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 学习工作台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32104" y="3182112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 / 问答 / 错题 / 图谱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2852928"/>
            <a:ext cx="201168" cy="0"/>
          </a:xfrm>
          <a:prstGeom prst="line">
            <a:avLst/>
          </a:prstGeom>
          <a:noFill/>
          <a:ln w="20320">
            <a:solidFill>
              <a:srgbClr val="B9A7E9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520440" y="1874520"/>
            <a:ext cx="2514600" cy="1965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0440" y="1874520"/>
            <a:ext cx="2514600" cy="502920"/>
          </a:xfrm>
          <a:prstGeom prst="roundRect">
            <a:avLst>
              <a:gd name="adj" fmla="val 23636"/>
            </a:avLst>
          </a:prstGeom>
          <a:solidFill>
            <a:srgbClr val="35B7A5"/>
          </a:solidFill>
          <a:ln w="8890">
            <a:solidFill>
              <a:srgbClr val="35B7A5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11880" y="197510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业务服务层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66744" y="2697480"/>
            <a:ext cx="2221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 + 账号认证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66744" y="3182112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资料解析与 SSE 流式接口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80760" y="2852928"/>
            <a:ext cx="201168" cy="0"/>
          </a:xfrm>
          <a:prstGeom prst="line">
            <a:avLst/>
          </a:prstGeom>
          <a:noFill/>
          <a:ln w="20320">
            <a:solidFill>
              <a:srgbClr val="B9A7E9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355080" y="1874520"/>
            <a:ext cx="2514600" cy="1965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55080" y="1874520"/>
            <a:ext cx="2514600" cy="502920"/>
          </a:xfrm>
          <a:prstGeom prst="roundRect">
            <a:avLst>
              <a:gd name="adj" fmla="val 23636"/>
            </a:avLst>
          </a:prstGeom>
          <a:solidFill>
            <a:srgbClr val="9975E8"/>
          </a:solidFill>
          <a:ln w="8890">
            <a:solidFill>
              <a:srgbClr val="9975E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197510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01384" y="2697480"/>
            <a:ext cx="2221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FastEmbed 中文向量模型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01384" y="3182112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Qdrant 向量检索 + 重排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915400" y="2852928"/>
            <a:ext cx="201168" cy="0"/>
          </a:xfrm>
          <a:prstGeom prst="line">
            <a:avLst/>
          </a:prstGeom>
          <a:noFill/>
          <a:ln w="20320">
            <a:solidFill>
              <a:srgbClr val="B9A7E9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189720" y="1874520"/>
            <a:ext cx="2331720" cy="1965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89720" y="1874520"/>
            <a:ext cx="2331720" cy="502920"/>
          </a:xfrm>
          <a:prstGeom prst="roundRect">
            <a:avLst>
              <a:gd name="adj" fmla="val 23636"/>
            </a:avLst>
          </a:prstGeom>
          <a:solidFill>
            <a:srgbClr val="E29B38"/>
          </a:solidFill>
          <a:ln w="8890">
            <a:solidFill>
              <a:srgbClr val="E29B3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81160" y="197510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生成层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336024" y="2697480"/>
            <a:ext cx="2039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兼容大模型 API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336024" y="3182112"/>
            <a:ext cx="2039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引用清理与错误处理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5800" y="4370832"/>
            <a:ext cx="10835640" cy="1005840"/>
          </a:xfrm>
          <a:prstGeom prst="roundRect">
            <a:avLst>
              <a:gd name="adj" fmla="val 14545"/>
            </a:avLst>
          </a:prstGeom>
          <a:solidFill>
            <a:srgbClr val="F1ECFF"/>
          </a:solidFill>
          <a:ln w="8890">
            <a:solidFill>
              <a:srgbClr val="F1EC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46085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04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关键设计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057400" y="4562856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资料按账号隔离 · 检索结果支持来源核对 · SSE 实时输出 · 无证据时明确提示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05840" y="5742432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当前项目以 Qdrant + FastEmbed 实现向量检索；大模型服务通过后端配置接入。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StudyPath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智学研途——AI个性化学习平台</dc:title>
  <dc:subject>智慧教育作品汇报</dc:subject>
  <dc:creator>智学研途 StudyPath AI</dc:creator>
  <cp:lastModifiedBy>智学研途 StudyPath AI</cp:lastModifiedBy>
  <cp:revision>1</cp:revision>
  <dcterms:created xsi:type="dcterms:W3CDTF">2026-10-23T14:31:00Z</dcterms:created>
  <dcterms:modified xsi:type="dcterms:W3CDTF">2026-10-23T14:31:00Z</dcterms:modified>
</cp:coreProperties>
</file>