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669280" cy="5669280"/>
          </a:xfrm>
          <a:prstGeom prst="ellipse">
            <a:avLst/>
          </a:prstGeom>
          <a:solidFill>
            <a:srgbClr val="5637A6">
              <a:alpha val="78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3108960"/>
            <a:ext cx="4389120" cy="4389120"/>
          </a:xfrm>
          <a:prstGeom prst="ellipse">
            <a:avLst/>
          </a:prstGeom>
          <a:solidFill>
            <a:srgbClr val="3AAFA0">
              <a:alpha val="30000"/>
            </a:srgbClr>
          </a:solidFill>
          <a:ln w="12700">
            <a:solidFill>
              <a:srgbClr val="241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77240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95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智慧教育与科普创作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D9C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个性化学习平台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8096" y="31638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4DF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让每一次提问都能回到资料，让每一道错题都成为进步的起点。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416052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87952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RAG资料问答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60520"/>
            <a:ext cx="160020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418795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错题举一反三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6512" y="416052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9664" y="4187952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31536" y="416052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34255F"/>
          </a:solidFill>
          <a:ln w="10160">
            <a:solidFill>
              <a:srgbClr val="8271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418795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用户画像与计划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1965960"/>
            <a:ext cx="868680" cy="868680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2261311"/>
            <a:ext cx="8686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744200" y="274320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44200" y="296704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3657600"/>
            <a:ext cx="749808" cy="749808"/>
          </a:xfrm>
          <a:prstGeom prst="ellipse">
            <a:avLst/>
          </a:prstGeom>
          <a:solidFill>
            <a:srgbClr val="35B7A5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0" y="3912535"/>
            <a:ext cx="749808" cy="22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49640" y="2834640"/>
            <a:ext cx="658368" cy="658368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058485"/>
            <a:ext cx="65836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69880" y="4572000"/>
            <a:ext cx="713232" cy="713232"/>
          </a:xfrm>
          <a:prstGeom prst="ellipse">
            <a:avLst/>
          </a:prstGeom>
          <a:solidFill>
            <a:srgbClr val="7047E8">
              <a:alpha val="92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9880" y="4814499"/>
            <a:ext cx="713232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87000" y="2560320"/>
            <a:ext cx="484632" cy="29260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383280"/>
            <a:ext cx="-685800" cy="41148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92640" y="3749040"/>
            <a:ext cx="-457200" cy="-502920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4389120"/>
            <a:ext cx="365760" cy="201168"/>
          </a:xfrm>
          <a:prstGeom prst="line">
            <a:avLst/>
          </a:prstGeom>
          <a:noFill/>
          <a:ln w="17780">
            <a:solidFill>
              <a:srgbClr val="A99ADC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68096" y="6153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6A9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作品汇报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66960" y="61539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4C9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StudyPath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从“能回答”走向“会学习”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1353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学习工具很多，但学生仍常遇到四个断点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57400"/>
            <a:ext cx="292608" cy="292608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资料难找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课程文件分散，定位知识点耗时。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2057400"/>
            <a:ext cx="292608" cy="292608"/>
          </a:xfrm>
          <a:prstGeom prst="ellipse">
            <a:avLst/>
          </a:prstGeom>
          <a:solidFill>
            <a:srgbClr val="35B7A5"/>
          </a:solidFill>
          <a:ln w="1270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0391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答案难核对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45936" y="24963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通用回答不一定贴合课程资料，来源不清晰。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657600"/>
            <a:ext cx="292608" cy="29260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错题被搁置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做完只看对错，缺少变式练习检验迁移。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074920" cy="1298448"/>
          </a:xfrm>
          <a:prstGeom prst="roundRect">
            <a:avLst>
              <a:gd name="adj" fmla="val 9155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657600"/>
            <a:ext cx="292608" cy="292608"/>
          </a:xfrm>
          <a:prstGeom prst="ellipse">
            <a:avLst/>
          </a:prstGeom>
          <a:solidFill>
            <a:srgbClr val="9071D6"/>
          </a:solidFill>
          <a:ln w="12700">
            <a:solidFill>
              <a:srgbClr val="9071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363931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计划不适配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45936" y="4096512"/>
            <a:ext cx="4636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学习进度与薄弱点不同，统一安排不够精准。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27080" cy="713232"/>
          </a:xfrm>
          <a:prstGeom prst="roundRect">
            <a:avLst>
              <a:gd name="adj" fmla="val 20513"/>
            </a:avLst>
          </a:prstGeom>
          <a:solidFill>
            <a:srgbClr val="F1ECFF"/>
          </a:solidFill>
          <a:ln w="8890">
            <a:solidFill>
              <a:srgbClr val="F1E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5431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5404104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把资料、答疑、错题、知识结构与个人学习计划连成一个持续改进的学习过程。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一条闭环：识别学情，持续改进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615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上传资料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个人课程内容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8775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检索问答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4495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资料依据 / 拓展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8231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7492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练习检测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3951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掌握情况反馈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7687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4E8FF"/>
          </a:solidFill>
          <a:ln w="8890">
            <a:solidFill>
              <a:srgbClr val="E5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983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错题变式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3407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举一反三训练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71432" y="2798064"/>
            <a:ext cx="182880" cy="0"/>
          </a:xfrm>
          <a:prstGeom prst="line">
            <a:avLst/>
          </a:prstGeom>
          <a:noFill/>
          <a:ln w="22860">
            <a:solidFill>
              <a:srgbClr val="B9A7E9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2240280"/>
            <a:ext cx="187452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2395728"/>
            <a:ext cx="320040" cy="320040"/>
          </a:xfrm>
          <a:prstGeom prst="ellipse">
            <a:avLst/>
          </a:prstGeom>
          <a:solidFill>
            <a:srgbClr val="7047E8"/>
          </a:solidFill>
          <a:ln w="1270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24414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94392" y="23774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画像计划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28632" y="2862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推荐课程与节奏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60120" y="4160520"/>
            <a:ext cx="1024128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370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14600" y="4315968"/>
            <a:ext cx="8321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 → 发现薄弱点 → 安排适合的课程与练习 → 用新的学习结果更新画像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103120" y="5596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让系统的每次推荐都能服务于下一步学习，而不只停留在一次问答。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737360"/>
            <a:ext cx="4023360" cy="4023360"/>
          </a:xfrm>
          <a:prstGeom prst="ellipse">
            <a:avLst/>
          </a:prstGeom>
          <a:solidFill>
            <a:srgbClr val="EEE8FF">
              <a:alpha val="75000"/>
            </a:srgbClr>
          </a:solidFill>
          <a:ln w="12700">
            <a:solidFill>
              <a:srgbClr val="F7F5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7047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 01 · 智能问答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RAG：回答围绕用户自己的资料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0996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64282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智学研途  ·  STUDYPATH AI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6692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pic>
        <p:nvPicPr>
          <p:cNvPr id="8" name="Image 0" descr="D:/Personal/Temp/codex-clipboard-ea76d17f-427d-4470-87f8-b3eb6cd9fd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81912"/>
            <a:ext cx="5449824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问答界面：资料库模式可查看回答引用的原文与页码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20840" y="1600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1865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22592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71232" y="1719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用户上传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71232" y="2039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 / TXT / Markdown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720840" y="2743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931152" y="3008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35B7A5"/>
          </a:solidFill>
          <a:ln w="8890">
            <a:solidFill>
              <a:srgbClr val="35B7A5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2592" y="3026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71232" y="2862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解析与检索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71232" y="3182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分块、向量化、召回并重排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720840" y="3886200"/>
            <a:ext cx="4800600" cy="859536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8890">
            <a:solidFill>
              <a:srgbClr val="E7E1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31152" y="4151376"/>
            <a:ext cx="438912" cy="310896"/>
          </a:xfrm>
          <a:prstGeom prst="roundRect">
            <a:avLst>
              <a:gd name="adj" fmla="val 29412"/>
            </a:avLst>
          </a:prstGeom>
          <a:solidFill>
            <a:srgbClr val="7047E8"/>
          </a:solidFill>
          <a:ln w="8890">
            <a:solidFill>
              <a:srgbClr val="7047E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71232" y="40050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417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71232" y="43251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771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结合证据输出并标注来源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720840" y="5230368"/>
            <a:ext cx="4800600" cy="576072"/>
          </a:xfrm>
          <a:prstGeom prst="roundRect">
            <a:avLst>
              <a:gd name="adj" fmla="val 19048"/>
            </a:avLst>
          </a:prstGeom>
          <a:solidFill>
            <a:srgbClr val="E7F7F3"/>
          </a:solidFill>
          <a:ln w="8890">
            <a:solidFill>
              <a:srgbClr val="E7F7F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31152" y="5367528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87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另一模式：大模型问答，用于知识解释与拓展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StudyPath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智学研途——AI个性化学习平台</dc:title>
  <dc:subject>智慧教育作品汇报</dc:subject>
  <dc:creator>智学研途 StudyPath AI</dc:creator>
  <cp:lastModifiedBy>智学研途 StudyPath AI</cp:lastModifiedBy>
  <cp:revision>1</cp:revision>
  <dcterms:created xsi:type="dcterms:W3CDTF">2026-10-23T14:31:00Z</dcterms:created>
  <dcterms:modified xsi:type="dcterms:W3CDTF">2026-10-23T14:31:00Z</dcterms:modified>
</cp:coreProperties>
</file>